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41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2000" cy="6858000"/>
  <p:notesSz cx="6858000" cy="9144000"/>
  <p:defaultTextStyle>
    <a:defPPr>
      <a:defRPr lang="ru-RU"/>
    </a:defPPr>
    <a:lvl1pPr marL="0" algn="l" defTabSz="91422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110" algn="l" defTabSz="91422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220" algn="l" defTabSz="91422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329" algn="l" defTabSz="91422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439" algn="l" defTabSz="91422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5549" algn="l" defTabSz="91422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2658" algn="l" defTabSz="91422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199765" algn="l" defTabSz="91422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6877" algn="l" defTabSz="91422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howGuides="1" snapToGrid="0">
      <p:cViewPr varScale="1">
        <p:scale>
          <a:sx n="112" d="100"/>
          <a:sy n="112" d="100"/>
        </p:scale>
        <p:origin x="200" y="360"/>
      </p:cViewPr>
      <p:guideLst>
        <p:guide pos="597"/>
        <p:guide pos="3591"/>
        <p:guide pos="5496"/>
        <p:guide pos="4112"/>
        <p:guide pos="393"/>
        <p:guide pos="2160" orient="horz"/>
      </p:guideLst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tableStyles" Target="tableStyles.xml"/><Relationship Id="rId44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1812951" name="Верхний колонтитул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776178070" name="Дата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9DA401BA-3150-4FF7-8D13-C8A64268AC63}" type="datetimeFigureOut">
              <a:rPr lang="ru-RU"/>
              <a:t>14.09.2026</a:t>
            </a:fld>
            <a:endParaRPr lang="ru-RU"/>
          </a:p>
        </p:txBody>
      </p:sp>
      <p:sp>
        <p:nvSpPr>
          <p:cNvPr id="1008376219" name="Образ слайда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ru-RU"/>
          </a:p>
        </p:txBody>
      </p:sp>
      <p:sp>
        <p:nvSpPr>
          <p:cNvPr id="657332147" name="Заметки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161909993" name="Нижний колонтитул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232077215" name="Номер слайда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3D5F3B14-7AC8-406F-A299-37D374056E4F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Титульный слайд">
    <p:bg>
      <p:bgPr shadeToTitle="0">
        <a:blipFill rotWithShape="1"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3682889" name="Рисунок 10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6792000" y="395288"/>
            <a:ext cx="5400000" cy="5400000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Иконка задачи</a:t>
            </a:r>
            <a:endParaRPr/>
          </a:p>
        </p:txBody>
      </p:sp>
      <p:sp>
        <p:nvSpPr>
          <p:cNvPr id="880295750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0" y="4323440"/>
            <a:ext cx="8930641" cy="827011"/>
          </a:xfrm>
          <a:prstGeom prst="rect">
            <a:avLst/>
          </a:prstGeom>
          <a:noFill/>
        </p:spPr>
        <p:txBody>
          <a:bodyPr anchor="ctr" anchorCtr="0"/>
          <a:lstStyle>
            <a:lvl1pPr marL="0" indent="712788"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НАЗВАНИЕ КОМАНДЫ</a:t>
            </a:r>
            <a:endParaRPr/>
          </a:p>
        </p:txBody>
      </p:sp>
      <p:sp>
        <p:nvSpPr>
          <p:cNvPr id="401620835" name="Рисунок 41"/>
          <p:cNvSpPr>
            <a:spLocks noGrp="1"/>
          </p:cNvSpPr>
          <p:nvPr>
            <p:ph type="pic" sz="quarter" idx="11" hasCustomPrompt="1"/>
          </p:nvPr>
        </p:nvSpPr>
        <p:spPr bwMode="auto">
          <a:xfrm>
            <a:off x="802640" y="2911980"/>
            <a:ext cx="3386773" cy="1082589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Логотип/логотипы постановщика задачи</a:t>
            </a:r>
            <a:endParaRPr/>
          </a:p>
        </p:txBody>
      </p:sp>
      <p:sp>
        <p:nvSpPr>
          <p:cNvPr id="602869623" name="Текст 4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0" y="5149851"/>
            <a:ext cx="8930641" cy="757174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712788">
              <a:buNone/>
              <a:defRPr sz="1800"/>
            </a:lvl1pPr>
          </a:lstStyle>
          <a:p>
            <a:pPr>
              <a:defRPr/>
            </a:pPr>
            <a:r>
              <a:rPr lang="ru-RU" sz="1600" b="0"/>
              <a:t>Номер и название задачи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1_Описание команды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7076004" name="Рисунок 10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6894095" y="1044081"/>
            <a:ext cx="4962943" cy="2221824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Фото команды</a:t>
            </a:r>
            <a:endParaRPr/>
          </a:p>
        </p:txBody>
      </p:sp>
      <p:sp>
        <p:nvSpPr>
          <p:cNvPr id="1666356196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КОМАНДА «НАЗВАНИЕ»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Команд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5223789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67EB9651-F031-4963-AFE9-33BCC0E88757}" type="datetime1">
              <a:rPr lang="ru-RU"/>
              <a:t>16.09.2026</a:t>
            </a:fld>
            <a:endParaRPr lang="ru-RU"/>
          </a:p>
        </p:txBody>
      </p:sp>
      <p:sp>
        <p:nvSpPr>
          <p:cNvPr id="1048786552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93809064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4</a:t>
            </a:fld>
            <a:endParaRPr lang="ru-RU"/>
          </a:p>
        </p:txBody>
      </p:sp>
      <p:sp>
        <p:nvSpPr>
          <p:cNvPr id="1927366780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КОМАНДА «НАЗВАНИЕ»</a:t>
            </a:r>
            <a:endParaRPr/>
          </a:p>
        </p:txBody>
      </p:sp>
      <p:sp>
        <p:nvSpPr>
          <p:cNvPr id="1795973529" name="Текст 35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806323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1913937985" name="Текст 35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3014568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11548332" name="Текст 35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5191192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2000063644" name="Текст 35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7366644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660029963" name="Текст 35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9542096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Пустой с заголовком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856027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1021F813-DBA1-42EC-A748-A9CC16659E6B}" type="datetime1">
              <a:rPr lang="ru-RU"/>
              <a:t>16.09.2026</a:t>
            </a:fld>
            <a:endParaRPr lang="ru-RU"/>
          </a:p>
        </p:txBody>
      </p:sp>
      <p:sp>
        <p:nvSpPr>
          <p:cNvPr id="112325648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07451837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5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1669326" name="Текст 2"/>
          <p:cNvSpPr>
            <a:spLocks noGrp="1"/>
          </p:cNvSpPr>
          <p:nvPr>
            <p:ph idx="1"/>
          </p:nvPr>
        </p:nvSpPr>
        <p:spPr bwMode="auto"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712371166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7DE2642A-6018-4CC1-81AB-5FD8D2782D4F}" type="datetime1">
              <a:rPr lang="ru-RU"/>
              <a:t>16.09.2026</a:t>
            </a:fld>
            <a:endParaRPr lang="ru-RU"/>
          </a:p>
        </p:txBody>
      </p:sp>
      <p:sp>
        <p:nvSpPr>
          <p:cNvPr id="185866539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410582817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454463469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8536032" name="Объект 2"/>
          <p:cNvSpPr>
            <a:spLocks noGrp="1"/>
          </p:cNvSpPr>
          <p:nvPr>
            <p:ph sz="half" idx="1"/>
          </p:nvPr>
        </p:nvSpPr>
        <p:spPr bwMode="auto">
          <a:xfrm>
            <a:off x="315387" y="1016001"/>
            <a:ext cx="5704418" cy="5184774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042926064" name="Объект 3"/>
          <p:cNvSpPr>
            <a:spLocks noGrp="1"/>
          </p:cNvSpPr>
          <p:nvPr>
            <p:ph sz="half" idx="2"/>
          </p:nvPr>
        </p:nvSpPr>
        <p:spPr bwMode="auto">
          <a:xfrm>
            <a:off x="6172206" y="1016001"/>
            <a:ext cx="5670472" cy="5184774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889770961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3014BBE-C503-4380-A869-5EE8294FE947}" type="datetime1">
              <a:rPr lang="ru-RU"/>
              <a:t>16.09.2026</a:t>
            </a:fld>
            <a:endParaRPr lang="ru-RU"/>
          </a:p>
        </p:txBody>
      </p:sp>
      <p:sp>
        <p:nvSpPr>
          <p:cNvPr id="1213391983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37774908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919287558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8555898" name="Текст 2"/>
          <p:cNvSpPr>
            <a:spLocks noGrp="1"/>
          </p:cNvSpPr>
          <p:nvPr>
            <p:ph type="body" idx="1"/>
          </p:nvPr>
        </p:nvSpPr>
        <p:spPr bwMode="auto">
          <a:xfrm>
            <a:off x="315386" y="1015427"/>
            <a:ext cx="5682193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50" b="1"/>
            </a:lvl2pPr>
            <a:lvl3pPr marL="578755" indent="0">
              <a:buNone/>
              <a:defRPr sz="1150" b="1"/>
            </a:lvl3pPr>
            <a:lvl4pPr marL="868132" indent="0">
              <a:buNone/>
              <a:defRPr sz="1000" b="1"/>
            </a:lvl4pPr>
            <a:lvl5pPr marL="1157510" indent="0">
              <a:buNone/>
              <a:defRPr sz="1000" b="1"/>
            </a:lvl5pPr>
            <a:lvl6pPr marL="1446887" indent="0">
              <a:buNone/>
              <a:defRPr sz="1000" b="1"/>
            </a:lvl6pPr>
            <a:lvl7pPr marL="1736266" indent="0">
              <a:buNone/>
              <a:defRPr sz="1000" b="1"/>
            </a:lvl7pPr>
            <a:lvl8pPr marL="2025644" indent="0">
              <a:buNone/>
              <a:defRPr sz="1000" b="1"/>
            </a:lvl8pPr>
            <a:lvl9pPr marL="2315021" indent="0">
              <a:buNone/>
              <a:defRPr sz="10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017223496" name="Объект 3"/>
          <p:cNvSpPr>
            <a:spLocks noGrp="1"/>
          </p:cNvSpPr>
          <p:nvPr>
            <p:ph sz="half" idx="2"/>
          </p:nvPr>
        </p:nvSpPr>
        <p:spPr bwMode="auto">
          <a:xfrm>
            <a:off x="349334" y="1598615"/>
            <a:ext cx="5648250" cy="460216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731636676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6172205" y="1015427"/>
            <a:ext cx="5684841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50" b="1"/>
            </a:lvl2pPr>
            <a:lvl3pPr marL="578755" indent="0">
              <a:buNone/>
              <a:defRPr sz="1150" b="1"/>
            </a:lvl3pPr>
            <a:lvl4pPr marL="868132" indent="0">
              <a:buNone/>
              <a:defRPr sz="1000" b="1"/>
            </a:lvl4pPr>
            <a:lvl5pPr marL="1157510" indent="0">
              <a:buNone/>
              <a:defRPr sz="1000" b="1"/>
            </a:lvl5pPr>
            <a:lvl6pPr marL="1446887" indent="0">
              <a:buNone/>
              <a:defRPr sz="1000" b="1"/>
            </a:lvl6pPr>
            <a:lvl7pPr marL="1736266" indent="0">
              <a:buNone/>
              <a:defRPr sz="1000" b="1"/>
            </a:lvl7pPr>
            <a:lvl8pPr marL="2025644" indent="0">
              <a:buNone/>
              <a:defRPr sz="1000" b="1"/>
            </a:lvl8pPr>
            <a:lvl9pPr marL="2315021" indent="0">
              <a:buNone/>
              <a:defRPr sz="10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91712141" name="Объект 5"/>
          <p:cNvSpPr>
            <a:spLocks noGrp="1"/>
          </p:cNvSpPr>
          <p:nvPr>
            <p:ph sz="quarter" idx="4"/>
          </p:nvPr>
        </p:nvSpPr>
        <p:spPr bwMode="auto">
          <a:xfrm>
            <a:off x="6172202" y="1598615"/>
            <a:ext cx="5670472" cy="460216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72805432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0D568497-304A-497F-ADAE-97D3CF462C1C}" type="datetime1">
              <a:rPr lang="ru-RU"/>
              <a:t>16.09.2026</a:t>
            </a:fld>
            <a:endParaRPr lang="ru-RU"/>
          </a:p>
        </p:txBody>
      </p:sp>
      <p:sp>
        <p:nvSpPr>
          <p:cNvPr id="657734324" name="Нижний колонтитул 4"/>
          <p:cNvSpPr>
            <a:spLocks noGrp="1"/>
          </p:cNvSpPr>
          <p:nvPr>
            <p:ph type="ftr" sz="quarter" idx="11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41445009" name="Номер слайда 5"/>
          <p:cNvSpPr>
            <a:spLocks noGrp="1"/>
          </p:cNvSpPr>
          <p:nvPr>
            <p:ph type="sldNum" sz="quarter" idx="12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1291046477" name="Заголовок 1"/>
          <p:cNvSpPr>
            <a:spLocks noGrp="1"/>
          </p:cNvSpPr>
          <p:nvPr>
            <p:ph type="title"/>
          </p:nvPr>
        </p:nvSpPr>
        <p:spPr bwMode="auto">
          <a:xfrm>
            <a:off x="349334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8121395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2CB240C-04A3-49D4-83F9-87A9C6C414DC}" type="datetime1">
              <a:rPr lang="ru-RU"/>
              <a:t>16.09.2026</a:t>
            </a:fld>
            <a:endParaRPr lang="ru-RU"/>
          </a:p>
        </p:txBody>
      </p:sp>
      <p:sp>
        <p:nvSpPr>
          <p:cNvPr id="1484279738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486186759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1850110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34966" y="1015999"/>
            <a:ext cx="4437062" cy="1213417"/>
          </a:xfrm>
        </p:spPr>
        <p:txBody>
          <a:bodyPr anchor="b"/>
          <a:lstStyle>
            <a:lvl1pPr>
              <a:defRPr sz="24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975281028" name="Объект 2"/>
          <p:cNvSpPr>
            <a:spLocks noGrp="1"/>
          </p:cNvSpPr>
          <p:nvPr>
            <p:ph idx="1"/>
          </p:nvPr>
        </p:nvSpPr>
        <p:spPr bwMode="auto">
          <a:xfrm>
            <a:off x="5183194" y="1015999"/>
            <a:ext cx="6673847" cy="5049521"/>
          </a:xfrm>
        </p:spPr>
        <p:txBody>
          <a:bodyPr>
            <a:normAutofit/>
          </a:bodyPr>
          <a:lstStyle>
            <a:lvl1pPr>
              <a:defRPr sz="1750"/>
            </a:lvl1pPr>
            <a:lvl2pPr>
              <a:defRPr sz="1500"/>
            </a:lvl2pPr>
            <a:lvl3pPr>
              <a:defRPr sz="1250"/>
            </a:lvl3pPr>
            <a:lvl4pPr>
              <a:defRPr sz="1150"/>
            </a:lvl4pPr>
            <a:lvl5pPr>
              <a:defRPr sz="1150"/>
            </a:lvl5pPr>
            <a:lvl6pPr>
              <a:defRPr sz="1250"/>
            </a:lvl6pPr>
            <a:lvl7pPr>
              <a:defRPr sz="1250"/>
            </a:lvl7pPr>
            <a:lvl8pPr>
              <a:defRPr sz="1250"/>
            </a:lvl8pPr>
            <a:lvl9pPr>
              <a:defRPr sz="125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896366570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334966" y="2428239"/>
            <a:ext cx="4437062" cy="36372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89378" indent="0">
              <a:buNone/>
              <a:defRPr sz="900"/>
            </a:lvl2pPr>
            <a:lvl3pPr marL="578755" indent="0">
              <a:buNone/>
              <a:defRPr sz="750"/>
            </a:lvl3pPr>
            <a:lvl4pPr marL="868132" indent="0">
              <a:buNone/>
              <a:defRPr sz="650"/>
            </a:lvl4pPr>
            <a:lvl5pPr marL="1157510" indent="0">
              <a:buNone/>
              <a:defRPr sz="650"/>
            </a:lvl5pPr>
            <a:lvl6pPr marL="1446887" indent="0">
              <a:buNone/>
              <a:defRPr sz="650"/>
            </a:lvl6pPr>
            <a:lvl7pPr marL="1736266" indent="0">
              <a:buNone/>
              <a:defRPr sz="650"/>
            </a:lvl7pPr>
            <a:lvl8pPr marL="2025644" indent="0">
              <a:buNone/>
              <a:defRPr sz="650"/>
            </a:lvl8pPr>
            <a:lvl9pPr marL="2315021" indent="0">
              <a:buNone/>
              <a:defRPr sz="65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376611987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E74468B-3512-454B-AB51-7AE95604D39E}" type="datetime1">
              <a:rPr lang="ru-RU"/>
              <a:t>16.09.2026</a:t>
            </a:fld>
            <a:endParaRPr lang="ru-RU"/>
          </a:p>
        </p:txBody>
      </p:sp>
      <p:sp>
        <p:nvSpPr>
          <p:cNvPr id="1556152487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1458955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801652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BAB2196-A440-4E25-B9FF-D0ADB01B1A15}" type="datetime1">
              <a:rPr lang="ru-RU"/>
              <a:t>16.09.2026</a:t>
            </a:fld>
            <a:endParaRPr lang="ru-RU"/>
          </a:p>
        </p:txBody>
      </p:sp>
      <p:sp>
        <p:nvSpPr>
          <p:cNvPr id="2075348248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519872225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802640" y="3922529"/>
            <a:ext cx="5293359" cy="1654542"/>
          </a:xfrm>
        </p:spPr>
        <p:txBody>
          <a:bodyPr anchor="ctr" anchorCtr="0"/>
          <a:lstStyle>
            <a:lvl1pPr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968345768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1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Содержание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1270877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C7BAE699-64F9-49EF-B784-2DEF2B221955}" type="datetime1">
              <a:rPr lang="ru-RU"/>
              <a:t>16.09.2026</a:t>
            </a:fld>
            <a:endParaRPr lang="ru-RU"/>
          </a:p>
        </p:txBody>
      </p:sp>
      <p:sp>
        <p:nvSpPr>
          <p:cNvPr id="1950419902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0005845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1792380901" name="Текст 6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873541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874422937" name="Текст 9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873544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694822356" name="Текст 6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854185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269095115" name="Текст 9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854185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682530970" name="Текст 6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1854185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926454970" name="Текст 9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1854185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069797757" name="Текст 6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7546648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635738940" name="Текст 9"/>
          <p:cNvSpPr>
            <a:spLocks noGrp="1"/>
          </p:cNvSpPr>
          <p:nvPr>
            <p:ph type="body" sz="quarter" idx="44" hasCustomPrompt="1"/>
          </p:nvPr>
        </p:nvSpPr>
        <p:spPr bwMode="auto">
          <a:xfrm>
            <a:off x="7546651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476364177" name="Текст 6"/>
          <p:cNvSpPr>
            <a:spLocks noGrp="1"/>
          </p:cNvSpPr>
          <p:nvPr>
            <p:ph type="body" sz="quarter" idx="45" hasCustomPrompt="1"/>
          </p:nvPr>
        </p:nvSpPr>
        <p:spPr bwMode="auto">
          <a:xfrm>
            <a:off x="7527292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458554842" name="Текст 9"/>
          <p:cNvSpPr>
            <a:spLocks noGrp="1"/>
          </p:cNvSpPr>
          <p:nvPr>
            <p:ph type="body" sz="quarter" idx="46" hasCustomPrompt="1"/>
          </p:nvPr>
        </p:nvSpPr>
        <p:spPr bwMode="auto">
          <a:xfrm>
            <a:off x="7527292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682611309" name="Текст 6"/>
          <p:cNvSpPr>
            <a:spLocks noGrp="1"/>
          </p:cNvSpPr>
          <p:nvPr>
            <p:ph type="body" sz="quarter" idx="47" hasCustomPrompt="1"/>
          </p:nvPr>
        </p:nvSpPr>
        <p:spPr bwMode="auto">
          <a:xfrm>
            <a:off x="7527292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680188690" name="Текст 9"/>
          <p:cNvSpPr>
            <a:spLocks noGrp="1"/>
          </p:cNvSpPr>
          <p:nvPr>
            <p:ph type="body" sz="quarter" idx="48" hasCustomPrompt="1"/>
          </p:nvPr>
        </p:nvSpPr>
        <p:spPr bwMode="auto">
          <a:xfrm>
            <a:off x="7527292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957727187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689925399" name="Текст 6"/>
          <p:cNvSpPr>
            <a:spLocks noGrp="1"/>
          </p:cNvSpPr>
          <p:nvPr>
            <p:ph type="body" sz="quarter" idx="49" hasCustomPrompt="1"/>
          </p:nvPr>
        </p:nvSpPr>
        <p:spPr bwMode="auto">
          <a:xfrm>
            <a:off x="778492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01</a:t>
            </a:r>
            <a:endParaRPr/>
          </a:p>
        </p:txBody>
      </p:sp>
      <p:sp>
        <p:nvSpPr>
          <p:cNvPr id="256972101" name="Текст 6"/>
          <p:cNvSpPr>
            <a:spLocks noGrp="1"/>
          </p:cNvSpPr>
          <p:nvPr>
            <p:ph type="body" sz="quarter" idx="50" hasCustomPrompt="1"/>
          </p:nvPr>
        </p:nvSpPr>
        <p:spPr bwMode="auto">
          <a:xfrm>
            <a:off x="759137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02</a:t>
            </a:r>
            <a:endParaRPr/>
          </a:p>
        </p:txBody>
      </p:sp>
      <p:sp>
        <p:nvSpPr>
          <p:cNvPr id="1208148889" name="Текст 6"/>
          <p:cNvSpPr>
            <a:spLocks noGrp="1"/>
          </p:cNvSpPr>
          <p:nvPr>
            <p:ph type="body" sz="quarter" idx="51" hasCustomPrompt="1"/>
          </p:nvPr>
        </p:nvSpPr>
        <p:spPr bwMode="auto">
          <a:xfrm>
            <a:off x="759137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03</a:t>
            </a:r>
            <a:endParaRPr/>
          </a:p>
        </p:txBody>
      </p:sp>
      <p:sp>
        <p:nvSpPr>
          <p:cNvPr id="684210003" name="Текст 6"/>
          <p:cNvSpPr>
            <a:spLocks noGrp="1"/>
          </p:cNvSpPr>
          <p:nvPr>
            <p:ph type="body" sz="quarter" idx="52" hasCustomPrompt="1"/>
          </p:nvPr>
        </p:nvSpPr>
        <p:spPr bwMode="auto">
          <a:xfrm>
            <a:off x="6451600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04</a:t>
            </a:r>
            <a:endParaRPr/>
          </a:p>
        </p:txBody>
      </p:sp>
      <p:sp>
        <p:nvSpPr>
          <p:cNvPr id="12519466" name="Текст 6"/>
          <p:cNvSpPr>
            <a:spLocks noGrp="1"/>
          </p:cNvSpPr>
          <p:nvPr>
            <p:ph type="body" sz="quarter" idx="53" hasCustomPrompt="1"/>
          </p:nvPr>
        </p:nvSpPr>
        <p:spPr bwMode="auto">
          <a:xfrm>
            <a:off x="6432244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05</a:t>
            </a:r>
            <a:endParaRPr/>
          </a:p>
        </p:txBody>
      </p:sp>
      <p:sp>
        <p:nvSpPr>
          <p:cNvPr id="1969617493" name="Текст 6"/>
          <p:cNvSpPr>
            <a:spLocks noGrp="1"/>
          </p:cNvSpPr>
          <p:nvPr>
            <p:ph type="body" sz="quarter" idx="54" hasCustomPrompt="1"/>
          </p:nvPr>
        </p:nvSpPr>
        <p:spPr bwMode="auto">
          <a:xfrm>
            <a:off x="6432244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06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Фотографи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408475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CAFA80CC-940E-479C-90C0-76DA923785E9}" type="datetime1">
              <a:rPr lang="ru-RU"/>
              <a:t>16.09.2026</a:t>
            </a:fld>
            <a:endParaRPr lang="ru-RU"/>
          </a:p>
        </p:txBody>
      </p:sp>
      <p:sp>
        <p:nvSpPr>
          <p:cNvPr id="2088193324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75758961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1177865552" name="Заголовок 1"/>
          <p:cNvSpPr>
            <a:spLocks noGrp="1"/>
          </p:cNvSpPr>
          <p:nvPr>
            <p:ph type="title"/>
          </p:nvPr>
        </p:nvSpPr>
        <p:spPr bwMode="auto">
          <a:xfrm>
            <a:off x="37268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839753479" name="Рисунок 7"/>
          <p:cNvSpPr>
            <a:spLocks noGrp="1"/>
          </p:cNvSpPr>
          <p:nvPr>
            <p:ph type="pic" sz="quarter" idx="10"/>
          </p:nvPr>
        </p:nvSpPr>
        <p:spPr bwMode="auto">
          <a:xfrm>
            <a:off x="7440147" y="1016001"/>
            <a:ext cx="4405777" cy="3078479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67254588" name="Рисунок 9"/>
          <p:cNvSpPr>
            <a:spLocks noGrp="1"/>
          </p:cNvSpPr>
          <p:nvPr>
            <p:ph type="pic" sz="quarter" idx="11"/>
          </p:nvPr>
        </p:nvSpPr>
        <p:spPr bwMode="auto">
          <a:xfrm>
            <a:off x="7440149" y="4389108"/>
            <a:ext cx="4405775" cy="1811668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01935067" name="Рисунок 11"/>
          <p:cNvSpPr>
            <a:spLocks noGrp="1"/>
          </p:cNvSpPr>
          <p:nvPr>
            <p:ph type="pic" sz="quarter" idx="12"/>
          </p:nvPr>
        </p:nvSpPr>
        <p:spPr bwMode="auto">
          <a:xfrm>
            <a:off x="346075" y="3223948"/>
            <a:ext cx="6806142" cy="2976827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620516688" name="Текст 15"/>
          <p:cNvSpPr>
            <a:spLocks noGrp="1"/>
          </p:cNvSpPr>
          <p:nvPr>
            <p:ph type="body" sz="quarter" idx="14"/>
          </p:nvPr>
        </p:nvSpPr>
        <p:spPr bwMode="auto">
          <a:xfrm>
            <a:off x="346075" y="1016001"/>
            <a:ext cx="6806142" cy="2029882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Пункты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625329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82A4DA7B-A7D8-4443-AD1C-4C7CDC678488}" type="datetime1">
              <a:rPr lang="ru-RU"/>
              <a:t>16.09.2026</a:t>
            </a:fld>
            <a:endParaRPr lang="ru-RU"/>
          </a:p>
        </p:txBody>
      </p:sp>
      <p:sp>
        <p:nvSpPr>
          <p:cNvPr id="1495724826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84074013" name="Заголовок 1"/>
          <p:cNvSpPr>
            <a:spLocks noGrp="1"/>
          </p:cNvSpPr>
          <p:nvPr>
            <p:ph type="title"/>
          </p:nvPr>
        </p:nvSpPr>
        <p:spPr bwMode="auto"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2103893195" name="Текст 101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1994303" y="2973742"/>
            <a:ext cx="2190810" cy="910516"/>
          </a:xfrm>
        </p:spPr>
        <p:txBody>
          <a:bodyPr/>
          <a:lstStyle>
            <a:lvl1pPr marL="0" indent="0" algn="ctr">
              <a:buNone/>
              <a:defRPr lang="ru-RU"/>
            </a:lvl1pPr>
          </a:lstStyle>
          <a:p>
            <a:pPr lvl="0">
              <a:defRPr/>
            </a:pPr>
            <a:r>
              <a:rPr lang="ru-RU"/>
              <a:t>Текст</a:t>
            </a:r>
            <a:endParaRPr/>
          </a:p>
        </p:txBody>
      </p:sp>
      <p:sp>
        <p:nvSpPr>
          <p:cNvPr id="808292524" name="Текст 74"/>
          <p:cNvSpPr>
            <a:spLocks noGrp="1"/>
          </p:cNvSpPr>
          <p:nvPr>
            <p:ph type="body" sz="quarter" idx="15"/>
          </p:nvPr>
        </p:nvSpPr>
        <p:spPr bwMode="auto">
          <a:xfrm>
            <a:off x="6662923" y="158812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031151279" name="Текст 74"/>
          <p:cNvSpPr>
            <a:spLocks noGrp="1"/>
          </p:cNvSpPr>
          <p:nvPr>
            <p:ph type="body" sz="quarter" idx="16"/>
          </p:nvPr>
        </p:nvSpPr>
        <p:spPr bwMode="auto">
          <a:xfrm>
            <a:off x="6662923" y="244513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98998086" name="Текст 74"/>
          <p:cNvSpPr>
            <a:spLocks noGrp="1"/>
          </p:cNvSpPr>
          <p:nvPr>
            <p:ph type="body" sz="quarter" idx="17"/>
          </p:nvPr>
        </p:nvSpPr>
        <p:spPr bwMode="auto">
          <a:xfrm>
            <a:off x="6662923" y="3302147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41709136" name="Текст 74"/>
          <p:cNvSpPr>
            <a:spLocks noGrp="1"/>
          </p:cNvSpPr>
          <p:nvPr>
            <p:ph type="body" sz="quarter" idx="18"/>
          </p:nvPr>
        </p:nvSpPr>
        <p:spPr bwMode="auto">
          <a:xfrm>
            <a:off x="6662923" y="415915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39403092" name="Текст 74"/>
          <p:cNvSpPr>
            <a:spLocks noGrp="1"/>
          </p:cNvSpPr>
          <p:nvPr>
            <p:ph type="body" sz="quarter" idx="19"/>
          </p:nvPr>
        </p:nvSpPr>
        <p:spPr bwMode="auto">
          <a:xfrm>
            <a:off x="6662923" y="501616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25408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4E505DF-C567-47F2-9374-60838F800101}" type="datetime1">
              <a:rPr lang="ru-RU"/>
              <a:t>16.09.2026</a:t>
            </a:fld>
            <a:endParaRPr lang="ru-RU"/>
          </a:p>
        </p:txBody>
      </p:sp>
      <p:sp>
        <p:nvSpPr>
          <p:cNvPr id="151079338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552299328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337256866" name="Заголовок 1"/>
          <p:cNvSpPr>
            <a:spLocks noGrp="1"/>
          </p:cNvSpPr>
          <p:nvPr>
            <p:ph type="title"/>
          </p:nvPr>
        </p:nvSpPr>
        <p:spPr bwMode="auto"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868929240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26867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38882151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626932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018155805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807582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63972428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3407647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64720584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4584029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22754983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5184094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1_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8581099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2938A0C3-5C2F-47B8-B008-79A49A1195BA}" type="datetime1">
              <a:rPr lang="ru-RU"/>
              <a:t>16.09.2026</a:t>
            </a:fld>
            <a:endParaRPr lang="ru-RU"/>
          </a:p>
        </p:txBody>
      </p:sp>
      <p:sp>
        <p:nvSpPr>
          <p:cNvPr id="450794199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00815293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597326524" name="Заголовок 1"/>
          <p:cNvSpPr>
            <a:spLocks noGrp="1"/>
          </p:cNvSpPr>
          <p:nvPr>
            <p:ph type="title"/>
          </p:nvPr>
        </p:nvSpPr>
        <p:spPr bwMode="auto">
          <a:xfrm>
            <a:off x="34953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691145851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16000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1476688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30660304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284561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399164481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160248213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3553122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1652764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393265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969505246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6683077" y="4821684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69304354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2_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6669273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BF4F29EB-DFD0-428E-8E89-ED117A3553E3}" type="datetime1">
              <a:rPr lang="ru-RU"/>
              <a:t>16.09.2026</a:t>
            </a:fld>
            <a:endParaRPr lang="ru-RU"/>
          </a:p>
        </p:txBody>
      </p:sp>
      <p:sp>
        <p:nvSpPr>
          <p:cNvPr id="343755584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71522661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1245142924" name="Заголовок 1"/>
          <p:cNvSpPr>
            <a:spLocks noGrp="1"/>
          </p:cNvSpPr>
          <p:nvPr>
            <p:ph type="title"/>
          </p:nvPr>
        </p:nvSpPr>
        <p:spPr bwMode="auto">
          <a:xfrm>
            <a:off x="367721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632442884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16000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91519423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018792073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284561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82414852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654076117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3553122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562832623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393265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06192035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6683077" y="4821684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154626048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Стади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849858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52F0272-0FEA-44CE-966E-3D169B2F53D4}" type="datetime1">
              <a:rPr lang="ru-RU"/>
              <a:t>16.09.2026</a:t>
            </a:fld>
            <a:endParaRPr lang="ru-RU"/>
          </a:p>
        </p:txBody>
      </p:sp>
      <p:sp>
        <p:nvSpPr>
          <p:cNvPr id="1448452554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33109929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1124927468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346075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13225624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346075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376240833" name="Текст 35"/>
          <p:cNvSpPr>
            <a:spLocks noGrp="1"/>
          </p:cNvSpPr>
          <p:nvPr>
            <p:ph type="body" sz="quarter" idx="28"/>
          </p:nvPr>
        </p:nvSpPr>
        <p:spPr bwMode="auto">
          <a:xfrm>
            <a:off x="4832960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876004260" name="Текст 35"/>
          <p:cNvSpPr>
            <a:spLocks noGrp="1"/>
          </p:cNvSpPr>
          <p:nvPr>
            <p:ph type="body" sz="quarter" idx="29"/>
          </p:nvPr>
        </p:nvSpPr>
        <p:spPr bwMode="auto">
          <a:xfrm>
            <a:off x="4832960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77609924" name="Текст 35"/>
          <p:cNvSpPr>
            <a:spLocks noGrp="1"/>
          </p:cNvSpPr>
          <p:nvPr>
            <p:ph type="body" sz="quarter" idx="30"/>
          </p:nvPr>
        </p:nvSpPr>
        <p:spPr bwMode="auto">
          <a:xfrm>
            <a:off x="9330862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9710853" name="Текст 35"/>
          <p:cNvSpPr>
            <a:spLocks noGrp="1"/>
          </p:cNvSpPr>
          <p:nvPr>
            <p:ph type="body" sz="quarter" idx="31"/>
          </p:nvPr>
        </p:nvSpPr>
        <p:spPr bwMode="auto">
          <a:xfrm>
            <a:off x="9330862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49188184" name="Текст 35"/>
          <p:cNvSpPr>
            <a:spLocks noGrp="1"/>
          </p:cNvSpPr>
          <p:nvPr>
            <p:ph type="body" sz="quarter" idx="32"/>
          </p:nvPr>
        </p:nvSpPr>
        <p:spPr bwMode="auto">
          <a:xfrm>
            <a:off x="2593517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68968598" name="Текст 35"/>
          <p:cNvSpPr>
            <a:spLocks noGrp="1"/>
          </p:cNvSpPr>
          <p:nvPr>
            <p:ph type="body" sz="quarter" idx="33"/>
          </p:nvPr>
        </p:nvSpPr>
        <p:spPr bwMode="auto">
          <a:xfrm>
            <a:off x="2593517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95903953" name="Текст 35"/>
          <p:cNvSpPr>
            <a:spLocks noGrp="1"/>
          </p:cNvSpPr>
          <p:nvPr>
            <p:ph type="body" sz="quarter" idx="34"/>
          </p:nvPr>
        </p:nvSpPr>
        <p:spPr bwMode="auto">
          <a:xfrm>
            <a:off x="7080402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10288170" name="Текст 35"/>
          <p:cNvSpPr>
            <a:spLocks noGrp="1"/>
          </p:cNvSpPr>
          <p:nvPr>
            <p:ph type="body" sz="quarter" idx="35"/>
          </p:nvPr>
        </p:nvSpPr>
        <p:spPr bwMode="auto">
          <a:xfrm>
            <a:off x="7080402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4155163" name="Заголовок 1"/>
          <p:cNvSpPr>
            <a:spLocks noGrp="1"/>
          </p:cNvSpPr>
          <p:nvPr>
            <p:ph type="title"/>
          </p:nvPr>
        </p:nvSpPr>
        <p:spPr bwMode="auto">
          <a:xfrm>
            <a:off x="384256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Проблема и реш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957983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062B0DBE-B5A9-470E-85A9-7CC062D5339A}" type="datetime1">
              <a:rPr lang="ru-RU"/>
              <a:t>16.09.2026</a:t>
            </a:fld>
            <a:endParaRPr lang="ru-RU"/>
          </a:p>
        </p:txBody>
      </p:sp>
      <p:sp>
        <p:nvSpPr>
          <p:cNvPr id="1675805337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14337200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560885061" name="Заголовок 1"/>
          <p:cNvSpPr>
            <a:spLocks noGrp="1"/>
          </p:cNvSpPr>
          <p:nvPr>
            <p:ph type="title"/>
          </p:nvPr>
        </p:nvSpPr>
        <p:spPr bwMode="auto">
          <a:xfrm>
            <a:off x="357650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122197277" name="Текст 35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517027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Описание проблемы </a:t>
            </a:r>
            <a:endParaRPr/>
          </a:p>
        </p:txBody>
      </p:sp>
      <p:sp>
        <p:nvSpPr>
          <p:cNvPr id="116118850" name="Текст 35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4464542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Примеры уже имеющихся способов решения данной проблемы</a:t>
            </a:r>
            <a:endParaRPr/>
          </a:p>
        </p:txBody>
      </p:sp>
      <p:sp>
        <p:nvSpPr>
          <p:cNvPr id="1428729295" name="Текст 35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8385481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Ваше предложение решения данной проблемы</a:t>
            </a:r>
            <a:endParaRPr/>
          </a:p>
        </p:txBody>
      </p:sp>
      <p:sp>
        <p:nvSpPr>
          <p:cNvPr id="856443119" name="Текст 35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517027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Проблема</a:t>
            </a:r>
            <a:endParaRPr/>
          </a:p>
        </p:txBody>
      </p:sp>
      <p:sp>
        <p:nvSpPr>
          <p:cNvPr id="1922520453" name="Текст 35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4464542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Альтернативные решения</a:t>
            </a:r>
            <a:endParaRPr/>
          </a:p>
        </p:txBody>
      </p:sp>
      <p:sp>
        <p:nvSpPr>
          <p:cNvPr id="1034779806" name="Текст 35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8385481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Решение</a:t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5086165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4162940" y="1264478"/>
            <a:ext cx="3866121" cy="2436377"/>
          </a:xfrm>
        </p:spPr>
      </p:sp>
      <p:sp>
        <p:nvSpPr>
          <p:cNvPr id="89648991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D396B86-640F-4AD1-BBB2-E085B6CD8771}" type="datetime1">
              <a:rPr lang="ru-RU"/>
              <a:t>16.09.2026</a:t>
            </a:fld>
            <a:endParaRPr lang="ru-RU"/>
          </a:p>
        </p:txBody>
      </p:sp>
      <p:sp>
        <p:nvSpPr>
          <p:cNvPr id="37812774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3889069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347150518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2021024583" name="Текст 7"/>
          <p:cNvSpPr>
            <a:spLocks noGrp="1"/>
          </p:cNvSpPr>
          <p:nvPr>
            <p:ph type="body" sz="quarter" idx="15"/>
          </p:nvPr>
        </p:nvSpPr>
        <p:spPr bwMode="auto">
          <a:xfrm>
            <a:off x="346075" y="4656083"/>
            <a:ext cx="3626835" cy="154469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320280167" name="Текст 7"/>
          <p:cNvSpPr>
            <a:spLocks noGrp="1"/>
          </p:cNvSpPr>
          <p:nvPr>
            <p:ph type="body" sz="quarter" idx="16"/>
          </p:nvPr>
        </p:nvSpPr>
        <p:spPr bwMode="auto">
          <a:xfrm>
            <a:off x="4240502" y="4656083"/>
            <a:ext cx="3626835" cy="154469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604478788" name="Текст 7"/>
          <p:cNvSpPr>
            <a:spLocks noGrp="1"/>
          </p:cNvSpPr>
          <p:nvPr>
            <p:ph type="body" sz="quarter" idx="17"/>
          </p:nvPr>
        </p:nvSpPr>
        <p:spPr bwMode="auto">
          <a:xfrm>
            <a:off x="8230203" y="4656083"/>
            <a:ext cx="3626835" cy="154469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1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12357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3AF0E63-1EB1-47F5-B09E-CA3E5DE528F3}" type="datetime1">
              <a:rPr lang="ru-RU"/>
              <a:t>16.09.2026</a:t>
            </a:fld>
            <a:endParaRPr lang="ru-RU"/>
          </a:p>
        </p:txBody>
      </p:sp>
      <p:sp>
        <p:nvSpPr>
          <p:cNvPr id="1147169938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30368713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1259102376" name="Заголовок 1"/>
          <p:cNvSpPr>
            <a:spLocks noGrp="1"/>
          </p:cNvSpPr>
          <p:nvPr>
            <p:ph type="title"/>
          </p:nvPr>
        </p:nvSpPr>
        <p:spPr bwMode="auto">
          <a:xfrm>
            <a:off x="353289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93639810" name="Текст 7"/>
          <p:cNvSpPr>
            <a:spLocks noGrp="1"/>
          </p:cNvSpPr>
          <p:nvPr>
            <p:ph type="body" sz="quarter" idx="15"/>
          </p:nvPr>
        </p:nvSpPr>
        <p:spPr bwMode="auto">
          <a:xfrm>
            <a:off x="1210643" y="4324451"/>
            <a:ext cx="4121687" cy="161226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99722443" name="Текст 7"/>
          <p:cNvSpPr>
            <a:spLocks noGrp="1"/>
          </p:cNvSpPr>
          <p:nvPr>
            <p:ph type="body" sz="quarter" idx="16"/>
          </p:nvPr>
        </p:nvSpPr>
        <p:spPr bwMode="auto">
          <a:xfrm>
            <a:off x="6857950" y="4324451"/>
            <a:ext cx="4121687" cy="161226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525584501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1210642" y="1577998"/>
            <a:ext cx="4121688" cy="2283975"/>
          </a:xfrm>
        </p:spPr>
      </p:sp>
      <p:sp>
        <p:nvSpPr>
          <p:cNvPr id="823724485" name="Picture Placeholder 1"/>
          <p:cNvSpPr>
            <a:spLocks noGrp="1"/>
          </p:cNvSpPr>
          <p:nvPr>
            <p:ph type="pic" sz="quarter" idx="18"/>
          </p:nvPr>
        </p:nvSpPr>
        <p:spPr bwMode="auto">
          <a:xfrm>
            <a:off x="6855540" y="1577998"/>
            <a:ext cx="4121688" cy="2283975"/>
          </a:xfrm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2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5624748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5009872" y="1235915"/>
            <a:ext cx="2172255" cy="4602697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906666371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356349" y="1641283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661976731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356349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90673764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8040020" y="1641283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078948986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8040020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58611594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356349" y="3864598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45328777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356349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00255233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8040020" y="3864598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00879656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8040020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cxnSp>
        <p:nvCxnSpPr>
          <p:cNvPr id="589614520" name="Google Shape;2799;p94"/>
          <p:cNvCxnSpPr/>
          <p:nvPr userDrawn="1"/>
        </p:nvCxnSpPr>
        <p:spPr bwMode="auto">
          <a:xfrm>
            <a:off x="4244694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81545724" name="Google Shape;2799;p94"/>
          <p:cNvCxnSpPr/>
          <p:nvPr userDrawn="1"/>
        </p:nvCxnSpPr>
        <p:spPr bwMode="auto">
          <a:xfrm>
            <a:off x="4244694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0625227" name="Google Shape;2799;p94"/>
          <p:cNvCxnSpPr/>
          <p:nvPr userDrawn="1"/>
        </p:nvCxnSpPr>
        <p:spPr bwMode="auto">
          <a:xfrm>
            <a:off x="7250583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67509977" name="Google Shape;2799;p94"/>
          <p:cNvCxnSpPr/>
          <p:nvPr userDrawn="1"/>
        </p:nvCxnSpPr>
        <p:spPr bwMode="auto">
          <a:xfrm>
            <a:off x="7250583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11619468" name="Заголовок 3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18129555" name="Дата 8"/>
          <p:cNvSpPr>
            <a:spLocks noGrp="1"/>
          </p:cNvSpPr>
          <p:nvPr>
            <p:ph type="dt" sz="half" idx="28"/>
          </p:nvPr>
        </p:nvSpPr>
        <p:spPr bwMode="auto"/>
        <p:txBody>
          <a:bodyPr/>
          <a:lstStyle/>
          <a:p>
            <a:pPr>
              <a:defRPr/>
            </a:pPr>
            <a:fld id="{9D490EE5-ED7D-46E8-8345-A78A0CB0F4A4}" type="datetime1">
              <a:rPr lang="ru-RU"/>
              <a:t>16.09.2026</a:t>
            </a:fld>
            <a:endParaRPr lang="ru-RU"/>
          </a:p>
        </p:txBody>
      </p:sp>
      <p:sp>
        <p:nvSpPr>
          <p:cNvPr id="2139654067" name="Нижний колонтитул 9"/>
          <p:cNvSpPr>
            <a:spLocks noGrp="1"/>
          </p:cNvSpPr>
          <p:nvPr>
            <p:ph type="ftr" sz="quarter" idx="29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287854632" name="Номер слайда 10"/>
          <p:cNvSpPr>
            <a:spLocks noGrp="1"/>
          </p:cNvSpPr>
          <p:nvPr>
            <p:ph type="sldNum" sz="quarter" idx="30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3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4939360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1001459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580386608" name="Picture Placeholder 1"/>
          <p:cNvSpPr>
            <a:spLocks noGrp="1"/>
          </p:cNvSpPr>
          <p:nvPr>
            <p:ph type="pic" sz="quarter" idx="15"/>
          </p:nvPr>
        </p:nvSpPr>
        <p:spPr bwMode="auto">
          <a:xfrm>
            <a:off x="3831097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399003789" name="Picture Placeholder 1"/>
          <p:cNvSpPr>
            <a:spLocks noGrp="1"/>
          </p:cNvSpPr>
          <p:nvPr>
            <p:ph type="pic" sz="quarter" idx="16"/>
          </p:nvPr>
        </p:nvSpPr>
        <p:spPr bwMode="auto">
          <a:xfrm>
            <a:off x="6660734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668171859" name="Picture Placeholder 1"/>
          <p:cNvSpPr>
            <a:spLocks noGrp="1"/>
          </p:cNvSpPr>
          <p:nvPr>
            <p:ph type="pic" sz="quarter" idx="17"/>
          </p:nvPr>
        </p:nvSpPr>
        <p:spPr bwMode="auto">
          <a:xfrm>
            <a:off x="9490368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932505230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C8C16AD-D907-4463-BE30-FCBB33ACAE3F}" type="datetime1">
              <a:rPr lang="ru-RU"/>
              <a:t>16.09.2026</a:t>
            </a:fld>
            <a:endParaRPr lang="ru-RU"/>
          </a:p>
        </p:txBody>
      </p:sp>
      <p:sp>
        <p:nvSpPr>
          <p:cNvPr id="792600989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50504692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164420842" name="Текст 7"/>
          <p:cNvSpPr>
            <a:spLocks noGrp="1"/>
          </p:cNvSpPr>
          <p:nvPr>
            <p:ph type="body" sz="quarter" idx="18"/>
          </p:nvPr>
        </p:nvSpPr>
        <p:spPr bwMode="auto">
          <a:xfrm>
            <a:off x="346076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656314850" name="Текст 7"/>
          <p:cNvSpPr>
            <a:spLocks noGrp="1"/>
          </p:cNvSpPr>
          <p:nvPr>
            <p:ph type="body" sz="quarter" idx="19"/>
          </p:nvPr>
        </p:nvSpPr>
        <p:spPr bwMode="auto">
          <a:xfrm>
            <a:off x="3269562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554257058" name="Текст 7"/>
          <p:cNvSpPr>
            <a:spLocks noGrp="1"/>
          </p:cNvSpPr>
          <p:nvPr>
            <p:ph type="body" sz="quarter" idx="20"/>
          </p:nvPr>
        </p:nvSpPr>
        <p:spPr bwMode="auto">
          <a:xfrm>
            <a:off x="6193048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990252769" name="Текст 7"/>
          <p:cNvSpPr>
            <a:spLocks noGrp="1"/>
          </p:cNvSpPr>
          <p:nvPr>
            <p:ph type="body" sz="quarter" idx="21"/>
          </p:nvPr>
        </p:nvSpPr>
        <p:spPr bwMode="auto">
          <a:xfrm>
            <a:off x="9116535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2026721607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userDrawn="1">
  <p:cSld name="Пуст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Relationship Id="rId25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blipFill rotWithShape="1">
          <a:blip r:embed="rId25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7097445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903902632" name="Текст 2"/>
          <p:cNvSpPr>
            <a:spLocks noGrp="1"/>
          </p:cNvSpPr>
          <p:nvPr>
            <p:ph type="body" idx="1"/>
          </p:nvPr>
        </p:nvSpPr>
        <p:spPr bwMode="auto"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31779235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D490EE5-ED7D-46E8-8345-A78A0CB0F4A4}" type="datetime1">
              <a:rPr lang="ru-RU"/>
              <a:t>16.09.2026</a:t>
            </a:fld>
            <a:endParaRPr lang="ru-RU"/>
          </a:p>
        </p:txBody>
      </p:sp>
      <p:sp>
        <p:nvSpPr>
          <p:cNvPr id="1926070673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282487685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</p:sldLayoutIdLst>
  <p:hf dt="0" ftr="0" hdr="0" sldNum="1"/>
  <p:txStyles>
    <p:titleStyle>
      <a:lvl1pPr algn="l" defTabSz="578755" rtl="0">
        <a:lnSpc>
          <a:spcPct val="90000"/>
        </a:lnSpc>
        <a:spcBef>
          <a:spcPts val="0"/>
        </a:spcBef>
        <a:buNone/>
        <a:defRPr sz="2000" b="1">
          <a:solidFill>
            <a:schemeClr val="bg1">
              <a:lumMod val="95000"/>
            </a:schemeClr>
          </a:solidFill>
          <a:latin typeface="+mj-lt"/>
          <a:ea typeface="+mj-ea"/>
          <a:cs typeface="Amatic SC"/>
        </a:defRPr>
      </a:lvl1pPr>
    </p:titleStyle>
    <p:bodyStyle>
      <a:lvl1pPr marL="144688" indent="-144688" algn="l" defTabSz="578755" rtl="0">
        <a:lnSpc>
          <a:spcPct val="90000"/>
        </a:lnSpc>
        <a:spcBef>
          <a:spcPts val="631"/>
        </a:spcBef>
        <a:buFont typeface="Arial"/>
        <a:buChar char="•"/>
        <a:defRPr sz="145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434067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25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723445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0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012822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9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1302200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9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1591575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6pPr>
      <a:lvl7pPr marL="1880955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7pPr>
      <a:lvl8pPr marL="2170334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8pPr>
      <a:lvl9pPr marL="2459712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1pPr>
      <a:lvl2pPr marL="289378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2pPr>
      <a:lvl3pPr marL="578755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3pPr>
      <a:lvl4pPr marL="868132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4pPr>
      <a:lvl5pPr marL="1157510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5pPr>
      <a:lvl6pPr marL="1446887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6pPr>
      <a:lvl7pPr marL="1736266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7pPr>
      <a:lvl8pPr marL="2025644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8pPr>
      <a:lvl9pPr marL="2315021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468000" y="2268000"/>
            <a:ext cx="6840000" cy="2376000"/>
          </a:xfrm>
        </p:spPr>
        <p:txBody>
          <a:bodyPr/>
          <a:lstStyle/>
          <a:p>
            <a:pPr indent="0" marL="0"/>
            <a:r>
              <a:rPr sz="2800"/>
              <a:t>Система обнаружения посторонних объектов для беспилотных поездов в тоннеле метро по данным 3D-лидара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2" sz="quarter"/>
          </p:nvPr>
        </p:nvSpPr>
        <p:spPr>
          <a:xfrm>
            <a:off x="0" y="4896000"/>
          </a:xfrm>
        </p:spPr>
        <p:txBody>
          <a:bodyPr/>
          <a:lstStyle/>
          <a:p>
            <a:r>
              <a:t>Команда Attention Please  ·  Пермь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0000" y="324000"/>
            <a:ext cx="4140000" cy="612000"/>
          </a:xfrm>
          <a:prstGeom prst="roundRect">
            <a:avLst>
              <a:gd name="adj" fmla="val 25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8000"/>
          <a:lstStyle/>
          <a:p>
            <a:pPr algn="l"/>
            <a:r>
              <a:rPr sz="1700" b="1">
                <a:solidFill>
                  <a:srgbClr val="FFFFFF"/>
                </a:solidFill>
              </a:rPr>
              <a:t>О КОМАНДЕ И РЕШЕНИИ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0000" y="1188000"/>
            <a:ext cx="5256000" cy="5184000"/>
          </a:xfrm>
          <a:prstGeom prst="roundRect">
            <a:avLst>
              <a:gd name="adj" fmla="val 416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98000" rIns="198000" tIns="162000" bIns="108000"/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520977"/>
                </a:solidFill>
              </a:rPr>
              <a:t>Команда Attention Please</a:t>
            </a:r>
          </a:p>
          <a:p>
            <a:pPr algn="l">
              <a:spcAft>
                <a:spcPts val="500"/>
              </a:spcAft>
            </a:pPr>
            <a:r>
              <a:rPr sz="1400" b="1">
                <a:solidFill>
                  <a:srgbClr val="1C1D22"/>
                </a:solidFill>
              </a:rPr>
              <a:t>Белоусов Артём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1C1D22"/>
                </a:solidFill>
              </a:rPr>
              <a:t>RND-инженер</a:t>
            </a:r>
          </a:p>
          <a:p>
            <a:pPr algn="l">
              <a:spcAft>
                <a:spcPts val="500"/>
              </a:spcAft>
            </a:pPr>
            <a:r>
              <a:rPr sz="1400" b="1">
                <a:solidFill>
                  <a:srgbClr val="1C1D22"/>
                </a:solidFill>
              </a:rPr>
              <a:t>Белоусова Надежда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1C1D22"/>
                </a:solidFill>
              </a:rPr>
              <a:t>Системный аналитик</a:t>
            </a:r>
          </a:p>
          <a:p>
            <a:pPr algn="l">
              <a:spcAft>
                <a:spcPts val="500"/>
              </a:spcAft>
            </a:pPr>
            <a:r>
              <a:rPr sz="1400" b="1">
                <a:solidFill>
                  <a:srgbClr val="1C1D22"/>
                </a:solidFill>
              </a:rPr>
              <a:t>Участников: 2</a:t>
            </a:r>
          </a:p>
          <a:p>
            <a:pPr algn="l">
              <a:spcAft>
                <a:spcPts val="500"/>
              </a:spcAft>
            </a:pPr>
            <a:r>
              <a:rPr sz="1400" b="1">
                <a:solidFill>
                  <a:srgbClr val="1C1D22"/>
                </a:solidFill>
              </a:rPr>
              <a:t>Город: Пермь</a:t>
            </a:r>
          </a:p>
          <a:p>
            <a:pPr algn="l">
              <a:spcAft>
                <a:spcPts val="500"/>
              </a:spcAft>
            </a:pPr>
            <a:r>
              <a:rPr sz="1400" b="1">
                <a:solidFill>
                  <a:srgbClr val="1C1D22"/>
                </a:solidFill>
              </a:rPr>
              <a:t>Контакты: belousov.arts@yandex.ru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868000" y="1188000"/>
            <a:ext cx="5940000" cy="248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98000" rIns="198000" tIns="162000" bIns="108000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520977"/>
                </a:solidFill>
              </a:rPr>
              <a:t>Краткое описание решения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1C1D22"/>
                </a:solidFill>
              </a:rPr>
              <a:t>По облаку лидара Hesai Pandar128 система в каждом кадре находит путь и габарит поезда и проверяет, нет ли в нём посторонних предметов.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1C1D22"/>
                </a:solidFill>
              </a:rPr>
              <a:t>Выход: СВОБОДНО / ВНИМАНИЕ / ПРЕПЯТСТВИЕ, список объектов и рекомендуемая скорость.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68000" y="3888000"/>
            <a:ext cx="5940000" cy="248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98000" rIns="198000" tIns="162000" bIns="108000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520977"/>
                </a:solidFill>
              </a:rPr>
              <a:t>Уникальность решения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C1D22"/>
                </a:solidFill>
              </a:rPr>
              <a:t>•  Своя одометрия по текстуре стен тоннеля — ICP в тоннеле без неё ошибается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C1D22"/>
                </a:solidFill>
              </a:rPr>
              <a:t>•  Свои архитектуры нейросетей под лидар в тоннеле, обучены с нуля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C1D22"/>
                </a:solidFill>
              </a:rPr>
              <a:t>•  Разметка для нейросетей «из будущего» — без ручной разметки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C1D22"/>
                </a:solidFill>
              </a:rPr>
              <a:t>•  Тревога на любой предмет в габарите, даже невиданный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C1D22"/>
                </a:solidFill>
              </a:rPr>
              <a:t>•  Свой стенд: объекты вставляются по лучам лидара, с тенью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0000" y="324000"/>
            <a:ext cx="3780000" cy="612000"/>
          </a:xfrm>
          <a:prstGeom prst="roundRect">
            <a:avLst>
              <a:gd name="adj" fmla="val 25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8000"/>
          <a:lstStyle/>
          <a:p>
            <a:pPr algn="l"/>
            <a:r>
              <a:rPr sz="1700" b="1">
                <a:solidFill>
                  <a:srgbClr val="FFFFFF"/>
                </a:solidFill>
              </a:rPr>
              <a:t>КОРОТКО О РЕШЕНИИ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0000" y="1188000"/>
            <a:ext cx="2736000" cy="1512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0" rIns="144000"/>
          <a:lstStyle/>
          <a:p>
            <a:pPr algn="ctr"/>
            <a:r>
              <a:rPr sz="3000" b="1">
                <a:solidFill>
                  <a:srgbClr val="FF0053"/>
                </a:solidFill>
              </a:rPr>
              <a:t>150 м</a:t>
            </a:r>
          </a:p>
          <a:p>
            <a:pPr algn="ctr"/>
            <a:r>
              <a:rPr sz="1200" b="0">
                <a:solidFill>
                  <a:srgbClr val="1C1D22"/>
                </a:solidFill>
              </a:rPr>
              <a:t>проверка габарита
(медиана пути 154 м)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58000" y="1188000"/>
            <a:ext cx="2736000" cy="1512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0" rIns="144000"/>
          <a:lstStyle/>
          <a:p>
            <a:pPr algn="ctr"/>
            <a:r>
              <a:rPr sz="3000" b="1">
                <a:solidFill>
                  <a:srgbClr val="FF0053"/>
                </a:solidFill>
              </a:rPr>
              <a:t>114 м</a:t>
            </a:r>
          </a:p>
          <a:p>
            <a:pPr algn="ctr"/>
            <a:r>
              <a:rPr sz="1200" b="0">
                <a:solidFill>
                  <a:srgbClr val="1C1D22"/>
                </a:solidFill>
              </a:rPr>
              <a:t>человек подтверждён
(ВНИМАНИЕ со 137 м)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56000" y="1188000"/>
            <a:ext cx="2736000" cy="1512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0" rIns="144000"/>
          <a:lstStyle/>
          <a:p>
            <a:pPr algn="ctr"/>
            <a:r>
              <a:rPr sz="3000" b="1">
                <a:solidFill>
                  <a:srgbClr val="FF0053"/>
                </a:solidFill>
              </a:rPr>
              <a:t>0</a:t>
            </a:r>
          </a:p>
          <a:p>
            <a:pPr algn="ctr"/>
            <a:r>
              <a:rPr sz="1200" b="0">
                <a:solidFill>
                  <a:srgbClr val="1C1D22"/>
                </a:solidFill>
              </a:rPr>
              <a:t>ложных тревог
за 22 минуты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54000" y="1188000"/>
            <a:ext cx="2736000" cy="1512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0" rIns="144000"/>
          <a:lstStyle/>
          <a:p>
            <a:pPr algn="ctr"/>
            <a:r>
              <a:rPr sz="3000" b="1">
                <a:solidFill>
                  <a:srgbClr val="FF0053"/>
                </a:solidFill>
              </a:rPr>
              <a:t>75–90 мс</a:t>
            </a:r>
          </a:p>
          <a:p>
            <a:pPr algn="ctr"/>
            <a:r>
              <a:rPr sz="1200" b="0">
                <a:solidFill>
                  <a:srgbClr val="1C1D22"/>
                </a:solidFill>
              </a:rPr>
              <a:t>на кадр
(лидар — 100 мс)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0000" y="2880000"/>
            <a:ext cx="11448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</a:rPr>
              <a:t>Мы не распознаём «все возможные предметы». Мы точно строим, где проходит путь, и тревожим на всё, что поднимается над нормальным полотном внутри габарита и держится 4 кадра из 5.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0116" y="3581999"/>
            <a:ext cx="11387766" cy="2844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116" y="3671999"/>
            <a:ext cx="11207766" cy="2664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0000" y="324000"/>
            <a:ext cx="4500000" cy="612000"/>
          </a:xfrm>
          <a:prstGeom prst="roundRect">
            <a:avLst>
              <a:gd name="adj" fmla="val 25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8000"/>
          <a:lstStyle/>
          <a:p>
            <a:pPr algn="l"/>
            <a:r>
              <a:rPr sz="1700" b="1">
                <a:solidFill>
                  <a:srgbClr val="FFFFFF"/>
                </a:solidFill>
              </a:rPr>
              <a:t>ДАННЫЕ И ИХ СЛОЖНОСТИ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0000" y="1188000"/>
            <a:ext cx="4968000" cy="5184000"/>
          </a:xfrm>
          <a:prstGeom prst="roundRect">
            <a:avLst>
              <a:gd name="adj" fmla="val 416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98000" rIns="198000" tIns="162000" bIns="108000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520977"/>
                </a:solidFill>
              </a:rPr>
              <a:t>Что есть в записях</a:t>
            </a:r>
          </a:p>
          <a:p>
            <a:pPr algn="l">
              <a:spcAft>
                <a:spcPts val="500"/>
              </a:spcAft>
            </a:pPr>
            <a:r>
              <a:rPr sz="1200" b="1">
                <a:solidFill>
                  <a:srgbClr val="1C1D22"/>
                </a:solidFill>
              </a:rPr>
              <a:t>Только облако лидара.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1C1D22"/>
                </a:solidFill>
              </a:rPr>
              <a:t>•  Нет скорости, одометрии, положения на маршруте, карты и разметки — всё это мы вычисляем сами</a:t>
            </a:r>
          </a:p>
          <a:p>
            <a:pPr algn="l">
              <a:spcAft>
                <a:spcPts val="500"/>
              </a:spcAft>
            </a:pPr>
            <a:r>
              <a:rPr sz="1200" b="1">
                <a:solidFill>
                  <a:srgbClr val="1C1D22"/>
                </a:solidFill>
              </a:rPr>
              <a:t>Облако разреженное.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1C1D22"/>
                </a:solidFill>
              </a:rPr>
              <a:t>•  На 150 м лучи расходятся на 26 × 33 см, головка рельса — 7 см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1C1D22"/>
                </a:solidFill>
              </a:rPr>
              <a:t>•  На 100 м полоса пути 2 м содержит ≥ 5 точек лишь в 15 % кадров</a:t>
            </a:r>
          </a:p>
          <a:p>
            <a:pPr algn="l">
              <a:spcAft>
                <a:spcPts val="500"/>
              </a:spcAft>
            </a:pPr>
            <a:r>
              <a:rPr sz="1200" b="1">
                <a:solidFill>
                  <a:srgbClr val="1C1D22"/>
                </a:solidFill>
              </a:rPr>
              <a:t>Около 33 минут записей: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1C1D22"/>
                </a:solidFill>
              </a:rPr>
              <a:t>•  new_data 20 мин (~14 км), 6 коротких записей, проезд с препятствиями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1C1D22"/>
                </a:solidFill>
              </a:rPr>
              <a:t>•  cloud_clean мы сделали сами из проезда с препятствиями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54000" y="2426210"/>
            <a:ext cx="6443999" cy="270757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aln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4000" y="2516210"/>
            <a:ext cx="6263999" cy="252757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0000" y="324000"/>
            <a:ext cx="5040000" cy="612000"/>
          </a:xfrm>
          <a:prstGeom prst="roundRect">
            <a:avLst>
              <a:gd name="adj" fmla="val 25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8000"/>
          <a:lstStyle/>
          <a:p>
            <a:pPr algn="l"/>
            <a:r>
              <a:rPr sz="1700" b="1">
                <a:solidFill>
                  <a:srgbClr val="FFFFFF"/>
                </a:solidFill>
              </a:rPr>
              <a:t>ПОЧЕМУ 300 М НЕДОСТИЖИМЫ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712495" y="1062000"/>
            <a:ext cx="8743009" cy="2988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ings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2495" y="1152000"/>
            <a:ext cx="8563009" cy="28080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60000" y="4176000"/>
            <a:ext cx="3671999" cy="151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98000" rIns="198000" tIns="162000" bIns="108000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520977"/>
                </a:solidFill>
              </a:rPr>
              <a:t>Паспорт лидара ~200 м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1C1D22"/>
                </a:solidFill>
              </a:rPr>
              <a:t>В записях нет ни одной настоящей точки дальше 209 м.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12000" y="4176000"/>
            <a:ext cx="3671999" cy="151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98000" rIns="198000" tIns="162000" bIns="108000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520977"/>
                </a:solidFill>
              </a:rPr>
              <a:t>Полотно под лучами редко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1C1D22"/>
                </a:solidFill>
              </a:rPr>
              <a:t>На прямой между 150 и 300 м полотна касаются всего 2 кольца. Человек на 300 м — 1–3 точки.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63999" y="4176000"/>
            <a:ext cx="3671999" cy="151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98000" rIns="198000" tIns="162000" bIns="108000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520977"/>
                </a:solidFill>
              </a:rPr>
              <a:t>Кривые закрывают обзор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1C1D22"/>
                </a:solidFill>
              </a:rPr>
              <a:t>Видимость ≈ 2√(2·R·m): 150 м при R ≈ 1400 м, 300 м — только при R &gt; 5 км.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0000" y="5796000"/>
            <a:ext cx="11448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</a:rPr>
              <a:t>Цель — честные 150 м:</a:t>
            </a:r>
            <a:r>
              <a:rPr sz="1300" b="0">
                <a:solidFill>
                  <a:srgbClr val="FFFFFF"/>
                </a:solidFill>
              </a:rPr>
              <a:t> проверяем, пока путь реально виден. Этого хватает для остановки с 65 км/ч (торможение 1,3 м/с²).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0000" y="324000"/>
            <a:ext cx="3960000" cy="612000"/>
          </a:xfrm>
          <a:prstGeom prst="roundRect">
            <a:avLst>
              <a:gd name="adj" fmla="val 25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8000"/>
          <a:lstStyle/>
          <a:p>
            <a:pPr algn="l"/>
            <a:r>
              <a:rPr sz="1700" b="1">
                <a:solidFill>
                  <a:srgbClr val="FFFFFF"/>
                </a:solidFill>
              </a:rPr>
              <a:t>ПРОБЛЕМЫ В ЗАПИСЯХ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0000" y="1188000"/>
            <a:ext cx="11448000" cy="108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98000" rIns="198000" tIns="162000" bIns="108000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520977"/>
                </a:solidFill>
              </a:rPr>
              <a:t>new_data рвётся ближе к концу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1C1D22"/>
                </a:solidFill>
              </a:rPr>
              <a:t>Первые 13 минут без пропусков, дальше 46 разрывов до 7 с (всего ~87 с). Тракт сбрасывает одометрию после разрыва, при обучении такие участки исключены.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2448000"/>
            <a:ext cx="1144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</a:rPr>
              <a:t>cloud_with_fake_obj: синтетику можно найти, не решая задачу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0000" y="2880000"/>
          <a:ext cx="11448000" cy="158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000"/>
                <a:gridCol w="4104000"/>
                <a:gridCol w="4824000"/>
              </a:tblGrid>
              <a:tr h="3960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Признак</a:t>
                      </a:r>
                    </a:p>
                  </a:txBody>
                  <a:tcPr marL="72000" marR="72000" anchor="ctr">
                    <a:solidFill>
                      <a:srgbClr val="5209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Настоящие точки</a:t>
                      </a:r>
                    </a:p>
                  </a:txBody>
                  <a:tcPr marL="72000" marR="72000" anchor="ctr">
                    <a:solidFill>
                      <a:srgbClr val="5209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Вставленные объекты</a:t>
                      </a:r>
                    </a:p>
                  </a:txBody>
                  <a:tcPr marL="72000" marR="72000" anchor="ctr">
                    <a:solidFill>
                      <a:srgbClr val="520977"/>
                    </a:solidFill>
                  </a:tcPr>
                </a:tc>
              </a:tr>
              <a:tr h="3960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1D22"/>
                          </a:solidFill>
                        </a:rPr>
                        <a:t>Интенсивность</a:t>
                      </a:r>
                    </a:p>
                  </a:txBody>
                  <a:tcPr marL="72000" marR="7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1D22"/>
                          </a:solidFill>
                        </a:rPr>
                        <a:t>медиана 8; ровно 1 — у 4 % точек</a:t>
                      </a:r>
                    </a:p>
                  </a:txBody>
                  <a:tcPr marL="72000" marR="7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1D22"/>
                          </a:solidFill>
                        </a:rPr>
                        <a:t>ровно 1 у всех точек</a:t>
                      </a:r>
                    </a:p>
                  </a:txBody>
                  <a:tcPr marL="72000" marR="72000" anchor="ctr">
                    <a:solidFill>
                      <a:srgbClr val="FFFFFF"/>
                    </a:solidFill>
                  </a:tcPr>
                </a:tc>
              </a:tr>
              <a:tr h="3960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1D22"/>
                          </a:solidFill>
                        </a:rPr>
                        <a:t>Место в облаке</a:t>
                      </a:r>
                    </a:p>
                  </a:txBody>
                  <a:tcPr marL="72000" marR="72000" anchor="ctr">
                    <a:solidFill>
                      <a:srgbClr val="FFD6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1D22"/>
                          </a:solidFill>
                        </a:rPr>
                        <a:t>сетка 128 колец × 2400 колонок</a:t>
                      </a:r>
                    </a:p>
                  </a:txBody>
                  <a:tcPr marL="72000" marR="72000" anchor="ctr">
                    <a:solidFill>
                      <a:srgbClr val="FFD6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1D22"/>
                          </a:solidFill>
                        </a:rPr>
                        <a:t>дописаны в конец, без ring и timestamp</a:t>
                      </a:r>
                    </a:p>
                  </a:txBody>
                  <a:tcPr marL="72000" marR="72000" anchor="ctr">
                    <a:solidFill>
                      <a:srgbClr val="FFD6E4"/>
                    </a:solidFill>
                  </a:tcPr>
                </a:tc>
              </a:tr>
              <a:tr h="3960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1D22"/>
                          </a:solidFill>
                        </a:rPr>
                        <a:t>Дальность</a:t>
                      </a:r>
                    </a:p>
                  </a:txBody>
                  <a:tcPr marL="72000" marR="7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1D22"/>
                          </a:solidFill>
                        </a:rPr>
                        <a:t>не дальше 209 м</a:t>
                      </a:r>
                    </a:p>
                  </a:txBody>
                  <a:tcPr marL="72000" marR="7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1D22"/>
                          </a:solidFill>
                        </a:rPr>
                        <a:t>до 300 м — в 301 кадре дальше 200 м</a:t>
                      </a:r>
                    </a:p>
                  </a:txBody>
                  <a:tcPr marL="72000" marR="72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360000" y="4680000"/>
            <a:ext cx="11448000" cy="1655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98000" rIns="198000" tIns="162000" bIns="108000"/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1C1D22"/>
                </a:solidFill>
              </a:rPr>
              <a:t>Мы эти артефакты как признаки не используем. Дальность обнаружения меряем на своём стенде, где объекты вставлены по лучам лидара, с реалистичной интенсивностью и тенью.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C1D22"/>
                </a:solidFill>
              </a:rPr>
              <a:t>Из этой записи мы сделали чистый проезд cloud_clean: вырезали вставленные точки, вернули сетку колец и поля ring / timestamp.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0000" y="324000"/>
            <a:ext cx="4860000" cy="612000"/>
          </a:xfrm>
          <a:prstGeom prst="roundRect">
            <a:avLst>
              <a:gd name="adj" fmla="val 25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8000"/>
          <a:lstStyle/>
          <a:p>
            <a:pPr algn="l"/>
            <a:r>
              <a:rPr sz="1700" b="1">
                <a:solidFill>
                  <a:srgbClr val="FFFFFF"/>
                </a:solidFill>
              </a:rPr>
              <a:t>КАК ПРЕДСТАВЛЯТЬ ОБЛАКО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0000" y="1739571"/>
            <a:ext cx="7560000" cy="4080857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epresent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1829571"/>
            <a:ext cx="7380000" cy="390085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992000" y="1152000"/>
            <a:ext cx="3816000" cy="5256000"/>
          </a:xfrm>
          <a:prstGeom prst="roundRect">
            <a:avLst>
              <a:gd name="adj" fmla="val 410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98000" rIns="198000" tIns="162000" bIns="108000"/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520977"/>
                </a:solidFill>
              </a:rPr>
              <a:t>Почему не точки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1C1D22"/>
                </a:solidFill>
              </a:rPr>
              <a:t>В «мешке точек» теряется соседство, а объекты вдали — несколько точек. Поэтому 4 представления:</a:t>
            </a:r>
          </a:p>
          <a:p>
            <a:pPr algn="l">
              <a:spcAft>
                <a:spcPts val="500"/>
              </a:spcAft>
            </a:pPr>
            <a:r>
              <a:rPr sz="1100" b="1">
                <a:solidFill>
                  <a:srgbClr val="1C1D22"/>
                </a:solidFill>
              </a:rPr>
              <a:t>Range image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1C1D22"/>
                </a:solidFill>
              </a:rPr>
              <a:t>•  сетка сенсора; сеть рельсов вблизи</a:t>
            </a:r>
          </a:p>
          <a:p>
            <a:pPr algn="l">
              <a:spcAft>
                <a:spcPts val="500"/>
              </a:spcAft>
            </a:pPr>
            <a:r>
              <a:rPr sz="1100" b="1">
                <a:solidFill>
                  <a:srgbClr val="1C1D22"/>
                </a:solidFill>
              </a:rPr>
              <a:t>Развёртка стен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1C1D22"/>
                </a:solidFill>
              </a:rPr>
              <a:t>•  текстура стен; наша одометрия</a:t>
            </a:r>
          </a:p>
          <a:p>
            <a:pPr algn="l">
              <a:spcAft>
                <a:spcPts val="500"/>
              </a:spcAft>
            </a:pPr>
            <a:r>
              <a:rPr sz="1100" b="1">
                <a:solidFill>
                  <a:srgbClr val="1C1D22"/>
                </a:solidFill>
              </a:rPr>
              <a:t>Вид сверху по оси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1C1D22"/>
                </a:solidFill>
              </a:rPr>
              <a:t>•  10 кадров вместе; сеть вдали</a:t>
            </a:r>
          </a:p>
          <a:p>
            <a:pPr algn="l">
              <a:spcAft>
                <a:spcPts val="500"/>
              </a:spcAft>
            </a:pPr>
            <a:r>
              <a:rPr sz="1100" b="1">
                <a:solidFill>
                  <a:srgbClr val="1C1D22"/>
                </a:solidFill>
              </a:rPr>
              <a:t>Координаты пути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1C1D22"/>
                </a:solidFill>
              </a:rPr>
              <a:t>•  габарит — прямоугольник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0000" y="324000"/>
            <a:ext cx="2340000" cy="612000"/>
          </a:xfrm>
          <a:prstGeom prst="roundRect">
            <a:avLst>
              <a:gd name="adj" fmla="val 25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8000"/>
          <a:lstStyle/>
          <a:p>
            <a:pPr algn="l"/>
            <a:r>
              <a:rPr sz="1700" b="1">
                <a:solidFill>
                  <a:srgbClr val="FFFFFF"/>
                </a:solidFill>
              </a:rPr>
              <a:t>КОНЦЕПЦИЯ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0000" y="1188000"/>
            <a:ext cx="5616000" cy="230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98000" rIns="198000" tIns="162000" bIns="108000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520977"/>
                </a:solidFill>
              </a:rPr>
              <a:t>A. Через карту маршрута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C1D22"/>
                </a:solidFill>
              </a:rPr>
              <a:t>Один раз снять маршрут, разметить путь, построить «пустой тоннель» и сравнивать с ним.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C1D22"/>
                </a:solidFill>
              </a:rPr>
              <a:t>Нужны повторные проезды, положение на маршруте, стрелки. Таких данных нет.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92000" y="1188000"/>
            <a:ext cx="5616000" cy="2304000"/>
          </a:xfrm>
          <a:prstGeom prst="roundRect">
            <a:avLst>
              <a:gd name="adj" fmla="val 8000"/>
            </a:avLst>
          </a:prstGeom>
          <a:solidFill>
            <a:srgbClr val="FFD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98000" rIns="198000" tIns="162000" bIns="108000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520977"/>
                </a:solidFill>
              </a:rPr>
              <a:t>B. По тому, что видно сейчас — выбрали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C1D22"/>
                </a:solidFill>
              </a:rPr>
              <a:t>В каждом кадре найти рельсы, ось и габарит, проверить точки выше нормы полотна.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C1D22"/>
                </a:solidFill>
              </a:rPr>
              <a:t>Работает на любой записи. Задел для A тоже есть: карта уже строится.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5844" y="3618000"/>
            <a:ext cx="11236310" cy="2808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844" y="3708000"/>
            <a:ext cx="11056310" cy="262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0000" y="324000"/>
            <a:ext cx="2340000" cy="612000"/>
          </a:xfrm>
          <a:prstGeom prst="roundRect">
            <a:avLst>
              <a:gd name="adj" fmla="val 25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8000"/>
          <a:lstStyle/>
          <a:p>
            <a:pPr algn="l"/>
            <a:r>
              <a:rPr sz="1700" b="1">
                <a:solidFill>
                  <a:srgbClr val="FFFFFF"/>
                </a:solidFill>
              </a:rPr>
              <a:t>ОДОМЕТРИЯ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0000" y="1188000"/>
            <a:ext cx="4608000" cy="5184000"/>
          </a:xfrm>
          <a:prstGeom prst="roundRect">
            <a:avLst>
              <a:gd name="adj" fmla="val 416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98000" rIns="198000" tIns="162000" bIns="108000"/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520977"/>
                </a:solidFill>
              </a:rPr>
              <a:t>Как и почему</a:t>
            </a:r>
          </a:p>
          <a:p>
            <a:pPr algn="l">
              <a:spcAft>
                <a:spcPts val="500"/>
              </a:spcAft>
            </a:pPr>
            <a:r>
              <a:rPr sz="1100" b="1">
                <a:solidFill>
                  <a:srgbClr val="1C1D22"/>
                </a:solidFill>
              </a:rPr>
              <a:t>Одометрия по выравниванию сцен: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1C1D22"/>
                </a:solidFill>
              </a:rPr>
              <a:t>•  ищем сдвиг и поворот, при которых облако совпадает с прошлым; ICP делает это итеративно по ближайшим точкам</a:t>
            </a:r>
          </a:p>
          <a:p>
            <a:pPr algn="l">
              <a:spcAft>
                <a:spcPts val="500"/>
              </a:spcAft>
            </a:pPr>
            <a:r>
              <a:rPr sz="1100" b="1">
                <a:solidFill>
                  <a:srgbClr val="1C1D22"/>
                </a:solidFill>
              </a:rPr>
              <a:t>Почему ошибается: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1C1D22"/>
                </a:solidFill>
              </a:rPr>
              <a:t>•  тоннель вырожден вдоль оси: ICP дал −0,71 м вместо +1,54 м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1C1D22"/>
                </a:solidFill>
              </a:rPr>
              <a:t>•  без начального приближения не сходится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1C1D22"/>
                </a:solidFill>
              </a:rPr>
              <a:t>•  на пропусках кадров приближение неверно</a:t>
            </a:r>
          </a:p>
          <a:p>
            <a:pPr algn="l">
              <a:spcAft>
                <a:spcPts val="500"/>
              </a:spcAft>
            </a:pPr>
            <a:r>
              <a:rPr sz="1100" b="1">
                <a:solidFill>
                  <a:srgbClr val="1C1D22"/>
                </a:solidFill>
              </a:rPr>
              <a:t>Наше решение: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1C1D22"/>
                </a:solidFill>
              </a:rPr>
              <a:t>•  путь — фазовая корреляция развёртки стен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1C1D22"/>
                </a:solidFill>
              </a:rPr>
              <a:t>•  поворот — профиль стен на 12–95 м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1C1D22"/>
                </a:solidFill>
              </a:rPr>
              <a:t>•  это приближение для small_gicp: 9 мс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94000" y="1678663"/>
            <a:ext cx="6803999" cy="420267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odomet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4000" y="1768663"/>
            <a:ext cx="6623999" cy="402267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0000" y="324000"/>
            <a:ext cx="4500000" cy="612000"/>
          </a:xfrm>
          <a:prstGeom prst="roundRect">
            <a:avLst>
              <a:gd name="adj" fmla="val 25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8000"/>
          <a:lstStyle/>
          <a:p>
            <a:pPr algn="l"/>
            <a:r>
              <a:rPr sz="1700" b="1">
                <a:solidFill>
                  <a:srgbClr val="FFFFFF"/>
                </a:solidFill>
              </a:rPr>
              <a:t>РЕЛЬСЫ ВБЛИЗИ: ШАБЛОН</a:t>
            </a:r>
          </a:p>
        </p:txBody>
      </p:sp>
      <p:pic>
        <p:nvPicPr>
          <p:cNvPr id="3" name="Picture 2" descr="template_li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1628756"/>
            <a:ext cx="6336000" cy="4302486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912000" y="1188000"/>
            <a:ext cx="4896000" cy="5184000"/>
          </a:xfrm>
          <a:prstGeom prst="roundRect">
            <a:avLst>
              <a:gd name="adj" fmla="val 416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98000" rIns="198000" tIns="162000" bIns="108000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520977"/>
                </a:solidFill>
              </a:rPr>
              <a:t>Что измерили в данных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C1D22"/>
                </a:solidFill>
              </a:rPr>
              <a:t>•  Центры головок в 1,56–1,66 м друг от друга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C1D22"/>
                </a:solidFill>
              </a:rPr>
              <a:t>•  Головка выше окружения на 9–18 см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C1D22"/>
                </a:solidFill>
              </a:rPr>
              <a:t>•  </a:t>
            </a:r>
            <a:r>
              <a:rPr sz="1300" b="1">
                <a:solidFill>
                  <a:srgbClr val="1C1D22"/>
                </a:solidFill>
              </a:rPr>
              <a:t>Интенсивность на головке ниже</a:t>
            </a:r>
            <a:r>
              <a:rPr sz="1300" b="0">
                <a:solidFill>
                  <a:srgbClr val="1C1D22"/>
                </a:solidFill>
              </a:rPr>
              <a:t>: медиана 2 против 7–8 у полотна; сталь отражает луч в сторону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C1D22"/>
                </a:solidFill>
              </a:rPr>
              <a:t>•  Тёмный цвет на развёртке — низкая интенсивность, поэтому рельсы тёмные</a:t>
            </a:r>
          </a:p>
          <a:p>
            <a:pPr algn="l">
              <a:spcAft>
                <a:spcPts val="500"/>
              </a:spcAft>
            </a:pPr>
            <a:r>
              <a:rPr sz="1300" b="1">
                <a:solidFill>
                  <a:srgbClr val="1C1D22"/>
                </a:solidFill>
              </a:rPr>
              <a:t>Шаблон: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C1D22"/>
                </a:solidFill>
              </a:rPr>
              <a:t>•  идёт от поезда вдаль по продолжению оси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C1D22"/>
                </a:solidFill>
              </a:rPr>
              <a:t>•  между кадрами ось держит фильтр Калмана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C1D22"/>
                </a:solidFill>
              </a:rPr>
              <a:t>•  точен до сантиметров, но только до 50–60 м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0000" y="324000"/>
            <a:ext cx="5220000" cy="612000"/>
          </a:xfrm>
          <a:prstGeom prst="roundRect">
            <a:avLst>
              <a:gd name="adj" fmla="val 25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8000"/>
          <a:lstStyle/>
          <a:p>
            <a:pPr algn="l"/>
            <a:r>
              <a:rPr sz="1700" b="1">
                <a:solidFill>
                  <a:srgbClr val="FFFFFF"/>
                </a:solidFill>
              </a:rPr>
              <a:t>ВДАЛИ — МАШИННОЕ ОБУЧЕНИЕ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0000" y="1188000"/>
            <a:ext cx="5616000" cy="31680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98000" rIns="198000" tIns="162000" bIns="108000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520977"/>
                </a:solidFill>
              </a:rPr>
              <a:t>Геометрии не хватает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C1D22"/>
                </a:solidFill>
              </a:rPr>
              <a:t>•  Профиль тоннеля: ось до 80–100 м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C1D22"/>
                </a:solidFill>
              </a:rPr>
              <a:t>•  Контактный рельс: до ~120 м, где виден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C1D22"/>
                </a:solidFill>
              </a:rPr>
              <a:t>•  Тоннели разные: круглые, прямоугольные, платформы, гермозатворы, стрелки. Правила ломаются, а </a:t>
            </a:r>
            <a:r>
              <a:rPr sz="1300" b="1">
                <a:solidFill>
                  <a:srgbClr val="1C1D22"/>
                </a:solidFill>
              </a:rPr>
              <a:t>закономерности вдали может выучить только модель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92000" y="1188000"/>
            <a:ext cx="5616000" cy="31680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98000" rIns="198000" tIns="162000" bIns="108000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520977"/>
                </a:solidFill>
              </a:rPr>
              <a:t>Карта и разметка — из нашей одометрии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C1D22"/>
                </a:solidFill>
              </a:rPr>
              <a:t>•  Позы сводят все кадры в общую карту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C1D22"/>
                </a:solidFill>
              </a:rPr>
              <a:t>•  </a:t>
            </a:r>
            <a:r>
              <a:rPr sz="1300" b="1">
                <a:solidFill>
                  <a:srgbClr val="1C1D22"/>
                </a:solidFill>
              </a:rPr>
              <a:t>Разметка «из будущего»</a:t>
            </a:r>
            <a:r>
              <a:rPr sz="1300" b="0">
                <a:solidFill>
                  <a:srgbClr val="1C1D22"/>
                </a:solidFill>
              </a:rPr>
              <a:t>: поезд доедет до места на 150 м и увидит его вблизи; его траектория и есть ось пути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C1D22"/>
                </a:solidFill>
              </a:rPr>
              <a:t>•  Без ручной разметки; проверка — на других записях</a:t>
            </a:r>
          </a:p>
        </p:txBody>
      </p:sp>
      <p:pic>
        <p:nvPicPr>
          <p:cNvPr id="5" name="Picture 4" descr="map_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1317" y="4572000"/>
            <a:ext cx="6585365" cy="1800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0000" y="324000"/>
            <a:ext cx="3060000" cy="612000"/>
          </a:xfrm>
          <a:prstGeom prst="roundRect">
            <a:avLst>
              <a:gd name="adj" fmla="val 25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8000"/>
          <a:lstStyle/>
          <a:p>
            <a:pPr algn="l"/>
            <a:r>
              <a:rPr sz="1700" b="1">
                <a:solidFill>
                  <a:srgbClr val="FFFFFF"/>
                </a:solidFill>
              </a:rPr>
              <a:t>ДВЕ НЕЙРОСЕТИ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0000" y="1188000"/>
            <a:ext cx="5616000" cy="226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98000" rIns="198000" tIns="162000" bIns="108000"/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520977"/>
                </a:solidFill>
              </a:rPr>
              <a:t>Вблизи: RailSegNet (3,2 млн)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1C1D22"/>
                </a:solidFill>
              </a:rPr>
              <a:t>•  Вход: range image 128 × 1200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1C1D22"/>
                </a:solidFill>
              </a:rPr>
              <a:t>•  Выход: левая, правая головка, контактный рельс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1C1D22"/>
                </a:solidFill>
              </a:rPr>
              <a:t>•  Проверка: IoU головок 0,98, контактного рельса 0,93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92000" y="1188000"/>
            <a:ext cx="5616000" cy="226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98000" rIns="198000" tIns="162000" bIns="108000"/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520977"/>
                </a:solidFill>
              </a:rPr>
              <a:t>Вдали: FarBevNet (5,0 млн)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1C1D22"/>
                </a:solidFill>
              </a:rPr>
              <a:t>•  Вход: вид сверху по оси, 10–170 м, 10 кадров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1C1D22"/>
                </a:solidFill>
              </a:rPr>
              <a:t>•  Выход: распределение положения оси каждые 2 м и σ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1C1D22"/>
                </a:solidFill>
              </a:rPr>
              <a:t>•  Ошибка на 120–140 м: 19 см против 146 см без сети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8000" y="3510000"/>
            <a:ext cx="4380000" cy="234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rail_se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000" y="3600000"/>
            <a:ext cx="4200000" cy="21600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547500" y="3510000"/>
            <a:ext cx="4905000" cy="234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ar_be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7500" y="3600000"/>
            <a:ext cx="4725000" cy="2160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0000" y="5903999"/>
            <a:ext cx="11448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</a:rPr>
              <a:t>Архитектуры свои</a:t>
            </a:r>
            <a:r>
              <a:rPr sz="1200" b="0">
                <a:solidFill>
                  <a:srgbClr val="FFFFFF"/>
                </a:solidFill>
              </a:rPr>
              <a:t>, спроектированы под вход и выход задачи, обучены с нуля. Сети не заучили проезды: качество измерено на записях, которых они не видели; с новыми данными станут точнее.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0000" y="324000"/>
            <a:ext cx="4140000" cy="612000"/>
          </a:xfrm>
          <a:prstGeom prst="roundRect">
            <a:avLst>
              <a:gd name="adj" fmla="val 25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8000"/>
          <a:lstStyle/>
          <a:p>
            <a:pPr algn="l"/>
            <a:r>
              <a:rPr sz="1700" b="1">
                <a:solidFill>
                  <a:srgbClr val="FFFFFF"/>
                </a:solidFill>
              </a:rPr>
              <a:t>СЛИЯНИЕ И ДАЛЬНОСТЬ</a:t>
            </a:r>
          </a:p>
        </p:txBody>
      </p:sp>
      <p:pic>
        <p:nvPicPr>
          <p:cNvPr id="3" name="Picture 2" descr="far_gau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1189912"/>
            <a:ext cx="6623999" cy="5180175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200000" y="1188000"/>
            <a:ext cx="4608000" cy="5184000"/>
          </a:xfrm>
          <a:prstGeom prst="roundRect">
            <a:avLst>
              <a:gd name="adj" fmla="val 416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98000" rIns="198000" tIns="162000" bIns="108000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520977"/>
                </a:solidFill>
              </a:rPr>
              <a:t>Сети усиливают, а не заменяют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C1D22"/>
                </a:solidFill>
              </a:rPr>
              <a:t>•  Все источники слиты по σ, ось хранится в мире — габарит не дрожит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C1D22"/>
                </a:solidFill>
              </a:rPr>
              <a:t>•  Другая установка лидара: сеть молчит, включается шаблон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C1D22"/>
                </a:solidFill>
              </a:rPr>
              <a:t>•  Где сеть не уверена, габарит честно короче</a:t>
            </a:r>
          </a:p>
          <a:p>
            <a:pPr algn="l">
              <a:spcAft>
                <a:spcPts val="500"/>
              </a:spcAft>
            </a:pPr>
            <a:r>
              <a:rPr sz="1300" b="1">
                <a:solidFill>
                  <a:srgbClr val="1C1D22"/>
                </a:solidFill>
              </a:rPr>
              <a:t>Дальность: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C1D22"/>
                </a:solidFill>
              </a:rPr>
              <a:t>•  габарит — до 150 м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C1D22"/>
                </a:solidFill>
              </a:rPr>
              <a:t>•  ось: медиана 154 м, до 140 м в 81 % кадров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C1D22"/>
                </a:solidFill>
              </a:rPr>
              <a:t>•  ошибка на 120–140 м: 13 см вбок, 12 см по высоте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C1D22"/>
                </a:solidFill>
              </a:rPr>
              <a:t>•  без дальней сети было бы 80–100 м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0000" y="324000"/>
            <a:ext cx="4860000" cy="612000"/>
          </a:xfrm>
          <a:prstGeom prst="roundRect">
            <a:avLst>
              <a:gd name="adj" fmla="val 25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8000"/>
          <a:lstStyle/>
          <a:p>
            <a:pPr algn="l"/>
            <a:r>
              <a:rPr sz="1700" b="1">
                <a:solidFill>
                  <a:srgbClr val="FFFFFF"/>
                </a:solidFill>
              </a:rPr>
              <a:t>ОБНАРУЖЕНИЕ ПРЕПЯТСТВИЙ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0000" y="1102254"/>
            <a:ext cx="5796000" cy="344749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gauge_not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1192254"/>
            <a:ext cx="5616000" cy="326749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102000" y="1102254"/>
            <a:ext cx="5796000" cy="344749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hresh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2000" y="1192254"/>
            <a:ext cx="5616000" cy="326749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360000" y="4752000"/>
            <a:ext cx="2736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98000" rIns="198000" tIns="162000" bIns="108000"/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520977"/>
                </a:solidFill>
              </a:rPr>
              <a:t>1. Габарит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1C1D22"/>
                </a:solidFill>
              </a:rPr>
              <a:t>±1,05 × 3 м, 4–150 м; вырез между рельсами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58000" y="4752000"/>
            <a:ext cx="2736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98000" rIns="198000" tIns="162000" bIns="108000"/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520977"/>
                </a:solidFill>
              </a:rPr>
              <a:t>2. Норма полотна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1C1D22"/>
                </a:solidFill>
              </a:rPr>
              <a:t>по ближней зоне; на стоянке заморожена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56000" y="4752000"/>
            <a:ext cx="2736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98000" rIns="198000" tIns="162000" bIns="108000"/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520977"/>
                </a:solidFill>
              </a:rPr>
              <a:t>3. Кандидаты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1C1D22"/>
                </a:solidFill>
              </a:rPr>
              <a:t>выше нормы на порог с изломом на 60 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54000" y="4752000"/>
            <a:ext cx="2736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98000" rIns="198000" tIns="162000" bIns="108000"/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520977"/>
                </a:solidFill>
              </a:rPr>
              <a:t>4. ВНИМАНИЕ → ПРЕПЯТСТВИЕ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1C1D22"/>
                </a:solidFill>
              </a:rPr>
              <a:t>2 попадания → 4 кадра из 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0000" y="324000"/>
            <a:ext cx="3780000" cy="612000"/>
          </a:xfrm>
          <a:prstGeom prst="roundRect">
            <a:avLst>
              <a:gd name="adj" fmla="val 25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8000"/>
          <a:lstStyle/>
          <a:p>
            <a:pPr algn="l"/>
            <a:r>
              <a:rPr sz="1700" b="1">
                <a:solidFill>
                  <a:srgbClr val="FFFFFF"/>
                </a:solidFill>
              </a:rPr>
              <a:t>РЕЗУЛЬТАТЫ СТЕНДА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0000" y="1188000"/>
          <a:ext cx="7200000" cy="24839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6000"/>
                <a:gridCol w="1872000"/>
                <a:gridCol w="1872000"/>
              </a:tblGrid>
              <a:tr h="413999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Объект на оси</a:t>
                      </a:r>
                    </a:p>
                  </a:txBody>
                  <a:tcPr marL="72000" marR="72000" anchor="ctr">
                    <a:solidFill>
                      <a:srgbClr val="5209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ВНИМАНИЕ</a:t>
                      </a:r>
                    </a:p>
                  </a:txBody>
                  <a:tcPr marL="72000" marR="72000" anchor="ctr">
                    <a:solidFill>
                      <a:srgbClr val="5209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Подтверждение</a:t>
                      </a:r>
                    </a:p>
                  </a:txBody>
                  <a:tcPr marL="72000" marR="72000" anchor="ctr">
                    <a:solidFill>
                      <a:srgbClr val="520977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1D22"/>
                          </a:solidFill>
                        </a:rPr>
                        <a:t>Человек</a:t>
                      </a:r>
                    </a:p>
                  </a:txBody>
                  <a:tcPr marL="72000" marR="7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1D22"/>
                          </a:solidFill>
                        </a:rPr>
                        <a:t>137 м</a:t>
                      </a:r>
                    </a:p>
                  </a:txBody>
                  <a:tcPr marL="72000" marR="7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1D22"/>
                          </a:solidFill>
                        </a:rPr>
                        <a:t>114 м</a:t>
                      </a:r>
                    </a:p>
                  </a:txBody>
                  <a:tcPr marL="72000" marR="72000" anchor="ctr"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1D22"/>
                          </a:solidFill>
                        </a:rPr>
                        <a:t>Щит 2 × 1,9 м</a:t>
                      </a:r>
                    </a:p>
                  </a:txBody>
                  <a:tcPr marL="72000" marR="72000" anchor="ctr">
                    <a:solidFill>
                      <a:srgbClr val="FFD6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1D22"/>
                          </a:solidFill>
                        </a:rPr>
                        <a:t>149 м</a:t>
                      </a:r>
                    </a:p>
                  </a:txBody>
                  <a:tcPr marL="72000" marR="72000" anchor="ctr">
                    <a:solidFill>
                      <a:srgbClr val="FFD6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1D22"/>
                          </a:solidFill>
                        </a:rPr>
                        <a:t>129 м</a:t>
                      </a:r>
                    </a:p>
                  </a:txBody>
                  <a:tcPr marL="72000" marR="72000" anchor="ctr">
                    <a:solidFill>
                      <a:srgbClr val="FFD6E4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1D22"/>
                          </a:solidFill>
                        </a:rPr>
                        <a:t>Ящик 0,5 м</a:t>
                      </a:r>
                    </a:p>
                  </a:txBody>
                  <a:tcPr marL="72000" marR="7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1D22"/>
                          </a:solidFill>
                        </a:rPr>
                        <a:t>91 м</a:t>
                      </a:r>
                    </a:p>
                  </a:txBody>
                  <a:tcPr marL="72000" marR="7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1D22"/>
                          </a:solidFill>
                        </a:rPr>
                        <a:t>85 м</a:t>
                      </a:r>
                    </a:p>
                  </a:txBody>
                  <a:tcPr marL="72000" marR="72000" anchor="ctr"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1D22"/>
                          </a:solidFill>
                        </a:rPr>
                        <a:t>Куб 0,3 м</a:t>
                      </a:r>
                    </a:p>
                  </a:txBody>
                  <a:tcPr marL="72000" marR="72000" anchor="ctr">
                    <a:solidFill>
                      <a:srgbClr val="FFD6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1D22"/>
                          </a:solidFill>
                        </a:rPr>
                        <a:t>82 м</a:t>
                      </a:r>
                    </a:p>
                  </a:txBody>
                  <a:tcPr marL="72000" marR="72000" anchor="ctr">
                    <a:solidFill>
                      <a:srgbClr val="FFD6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1D22"/>
                          </a:solidFill>
                        </a:rPr>
                        <a:t>70 м</a:t>
                      </a:r>
                    </a:p>
                  </a:txBody>
                  <a:tcPr marL="72000" marR="72000" anchor="ctr">
                    <a:solidFill>
                      <a:srgbClr val="FFD6E4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1D22"/>
                          </a:solidFill>
                        </a:rPr>
                        <a:t>Плоский 10 см между рельсами</a:t>
                      </a:r>
                    </a:p>
                  </a:txBody>
                  <a:tcPr marL="72000" marR="7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1D22"/>
                          </a:solidFill>
                        </a:rPr>
                        <a:t>40 м</a:t>
                      </a:r>
                    </a:p>
                  </a:txBody>
                  <a:tcPr marL="72000" marR="7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1D22"/>
                          </a:solidFill>
                        </a:rPr>
                        <a:t>не подтв.</a:t>
                      </a:r>
                    </a:p>
                  </a:txBody>
                  <a:tcPr marL="72000" marR="72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60000" y="3744000"/>
            <a:ext cx="72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</a:rPr>
              <a:t>Медианы по 11 подъездам на объект; разрыв ВНИМАНИЕ → подтверждение 5–12 м.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0000" y="4248000"/>
            <a:ext cx="7200000" cy="21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98000" rIns="198000" tIns="162000" bIns="108000"/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1C1D22"/>
                </a:solidFill>
              </a:rPr>
              <a:t>0 ложных тревог за 22 минуты чистых записей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1C1D22"/>
                </a:solidFill>
              </a:rPr>
              <a:t>•  Настоящие человек и предмет 16 см на рельсе (doubleT_obstacle) — оба подтверждены на 56 м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1C1D22"/>
                </a:solidFill>
              </a:rPr>
              <a:t>•  Плоский предмет между рельсами ниже выреза габарита — цена отсутствия ложных от табличек</a:t>
            </a:r>
          </a:p>
        </p:txBody>
      </p:sp>
      <p:pic>
        <p:nvPicPr>
          <p:cNvPr id="6" name="Picture 5" descr="rail_obj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6000" y="2203425"/>
            <a:ext cx="4031999" cy="315314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0000" y="324000"/>
            <a:ext cx="3600000" cy="612000"/>
          </a:xfrm>
          <a:prstGeom prst="roundRect">
            <a:avLst>
              <a:gd name="adj" fmla="val 25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8000"/>
          <a:lstStyle/>
          <a:p>
            <a:pPr algn="l"/>
            <a:r>
              <a:rPr sz="1700" b="1">
                <a:solidFill>
                  <a:srgbClr val="FFFFFF"/>
                </a:solidFill>
              </a:rPr>
              <a:t>СТЕНД-СИНТЕЗАТОР</a:t>
            </a:r>
          </a:p>
        </p:txBody>
      </p:sp>
      <p:pic>
        <p:nvPicPr>
          <p:cNvPr id="3" name="Picture 2" descr="st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1279124"/>
            <a:ext cx="5472000" cy="500175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048000" y="1188000"/>
            <a:ext cx="5760000" cy="5184000"/>
          </a:xfrm>
          <a:prstGeom prst="roundRect">
            <a:avLst>
              <a:gd name="adj" fmla="val 416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98000" rIns="198000" tIns="162000" bIns="108000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520977"/>
                </a:solidFill>
              </a:rPr>
              <a:t>Зачем и как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C1D22"/>
                </a:solidFill>
              </a:rPr>
              <a:t>В данных нет подъезда к настоящему предмету издалека — без стенда дальность не измерить.</a:t>
            </a:r>
          </a:p>
          <a:p>
            <a:pPr algn="l">
              <a:spcAft>
                <a:spcPts val="500"/>
              </a:spcAft>
            </a:pPr>
            <a:r>
              <a:rPr sz="1300" b="1">
                <a:solidFill>
                  <a:srgbClr val="1C1D22"/>
                </a:solidFill>
              </a:rPr>
              <a:t>Как вставляет: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C1D22"/>
                </a:solidFill>
              </a:rPr>
              <a:t>•  каждый луч кадра пересекается с объектом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C1D22"/>
                </a:solidFill>
              </a:rPr>
              <a:t>•  точка на объекте: шум 2 см, два возврата, интенсивность как у тоннеля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C1D22"/>
                </a:solidFill>
              </a:rPr>
              <a:t>•  лучи за объектом пропадают — настоящая тень</a:t>
            </a:r>
          </a:p>
          <a:p>
            <a:pPr algn="l">
              <a:spcAft>
                <a:spcPts val="500"/>
              </a:spcAft>
            </a:pPr>
            <a:r>
              <a:rPr sz="1300" b="1">
                <a:solidFill>
                  <a:srgbClr val="1C1D22"/>
                </a:solidFill>
              </a:rPr>
              <a:t>Что задаётся и выдаёт: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C1D22"/>
                </a:solidFill>
              </a:rPr>
              <a:t>•  сценарий YAML: тип, размер, место, смещение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C1D22"/>
                </a:solidFill>
              </a:rPr>
              <a:t>•  первый луч, ВНИМАНИЕ, подтверждение, ложные, видео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0000" y="324000"/>
            <a:ext cx="5220000" cy="612000"/>
          </a:xfrm>
          <a:prstGeom prst="roundRect">
            <a:avLst>
              <a:gd name="adj" fmla="val 25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8000"/>
          <a:lstStyle/>
          <a:p>
            <a:pPr algn="l"/>
            <a:r>
              <a:rPr sz="1700" b="1">
                <a:solidFill>
                  <a:srgbClr val="FFFFFF"/>
                </a:solidFill>
              </a:rPr>
              <a:t>БЫСТРОДЕЙСТВИЕ И ПОСТАВКА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0000" y="1188000"/>
            <a:ext cx="3671999" cy="144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0" rIns="144000"/>
          <a:lstStyle/>
          <a:p>
            <a:pPr algn="ctr"/>
            <a:r>
              <a:rPr sz="3000" b="1">
                <a:solidFill>
                  <a:srgbClr val="FF0053"/>
                </a:solidFill>
              </a:rPr>
              <a:t>75–90 мс</a:t>
            </a:r>
          </a:p>
          <a:p>
            <a:pPr algn="ctr"/>
            <a:r>
              <a:rPr sz="1200" b="0">
                <a:solidFill>
                  <a:srgbClr val="1C1D22"/>
                </a:solidFill>
              </a:rPr>
              <a:t>на кадр, RTX 5080 Laptop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12000" y="1188000"/>
            <a:ext cx="3671999" cy="144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0" rIns="144000"/>
          <a:lstStyle/>
          <a:p>
            <a:pPr algn="ctr"/>
            <a:r>
              <a:rPr sz="3000" b="1">
                <a:solidFill>
                  <a:srgbClr val="FF0053"/>
                </a:solidFill>
              </a:rPr>
              <a:t>3 потока</a:t>
            </a:r>
          </a:p>
          <a:p>
            <a:pPr algn="ctr"/>
            <a:r>
              <a:rPr sz="1200" b="0">
                <a:solidFill>
                  <a:srgbClr val="1C1D22"/>
                </a:solidFill>
              </a:rPr>
              <a:t>чтение → одометрия и сеть → ось и детектор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63999" y="1188000"/>
            <a:ext cx="3671999" cy="144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0" rIns="144000"/>
          <a:lstStyle/>
          <a:p>
            <a:pPr algn="ctr"/>
            <a:r>
              <a:rPr sz="3000" b="1">
                <a:solidFill>
                  <a:srgbClr val="FF0053"/>
                </a:solidFill>
              </a:rPr>
              <a:t>18 мс</a:t>
            </a:r>
          </a:p>
          <a:p>
            <a:pPr algn="ctr"/>
            <a:r>
              <a:rPr sz="1200" b="0">
                <a:solidFill>
                  <a:srgbClr val="1C1D22"/>
                </a:solidFill>
              </a:rPr>
              <a:t>обе сети вместе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0000" y="2844000"/>
            <a:ext cx="5616000" cy="3528000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98000" rIns="198000" tIns="162000" bIns="108000"/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520977"/>
                </a:solidFill>
              </a:rPr>
              <a:t>Работа в реальном времени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1C1D22"/>
                </a:solidFill>
              </a:rPr>
              <a:t>•  Узел всегда берёт самый свежий кадр — отставание не копится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1C1D22"/>
                </a:solidFill>
              </a:rPr>
              <a:t>•  Подготовка данных перенесена на видеокарту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1C1D22"/>
                </a:solidFill>
              </a:rPr>
              <a:t>•  920 тыс. точек в кадре (другой драйвер): 160–200 мс, узел пропускает лишние кадры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844000"/>
            <a:ext cx="5616000" cy="3528000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98000" rIns="198000" tIns="162000" bIns="108000"/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520977"/>
                </a:solidFill>
              </a:rPr>
              <a:t>Что в поставке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1C1D22"/>
                </a:solidFill>
              </a:rPr>
              <a:t>•  Узел ROS 2: /fod/status, /fod/obstacles, /fod/markers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1C1D22"/>
                </a:solidFill>
              </a:rPr>
              <a:t>•  Docker, запуск в 3 команды, служба для поезда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1C1D22"/>
                </a:solidFill>
              </a:rPr>
              <a:t>•  Видео, 3D-просмотр в rerun, RViz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1C1D22"/>
                </a:solidFill>
              </a:rPr>
              <a:t>•  Карта записи и стенд препятствий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0000" y="324000"/>
            <a:ext cx="2520000" cy="612000"/>
          </a:xfrm>
          <a:prstGeom prst="roundRect">
            <a:avLst>
              <a:gd name="adj" fmla="val 25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8000"/>
          <a:lstStyle/>
          <a:p>
            <a:pPr algn="l"/>
            <a:r>
              <a:rPr sz="1700" b="1">
                <a:solidFill>
                  <a:srgbClr val="FFFFFF"/>
                </a:solidFill>
              </a:rPr>
              <a:t>ЧТО ДАЛЬШЕ</a:t>
            </a:r>
          </a:p>
        </p:txBody>
      </p:sp>
      <p:pic>
        <p:nvPicPr>
          <p:cNvPr id="3" name="Picture 2" descr="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1226329"/>
            <a:ext cx="2520000" cy="5107341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3096000" y="1188000"/>
            <a:ext cx="4248000" cy="5184000"/>
          </a:xfrm>
          <a:prstGeom prst="roundRect">
            <a:avLst>
              <a:gd name="adj" fmla="val 416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98000" rIns="198000" tIns="162000" bIns="108000"/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520977"/>
                </a:solidFill>
              </a:rPr>
              <a:t>Уже можно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1C1D22"/>
                </a:solidFill>
              </a:rPr>
              <a:t>•  </a:t>
            </a:r>
            <a:r>
              <a:rPr sz="1400" b="1">
                <a:solidFill>
                  <a:srgbClr val="1C1D22"/>
                </a:solidFill>
              </a:rPr>
              <a:t>Карта маршрута</a:t>
            </a:r>
            <a:r>
              <a:rPr sz="1400" b="0">
                <a:solidFill>
                  <a:srgbClr val="1C1D22"/>
                </a:solidFill>
              </a:rPr>
              <a:t>: 14 км new_data одной цепочкой одометрии; облако, плитки 3 см/пикс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1C1D22"/>
                </a:solidFill>
              </a:rPr>
              <a:t>•  </a:t>
            </a:r>
            <a:r>
              <a:rPr sz="1400" b="1">
                <a:solidFill>
                  <a:srgbClr val="1C1D22"/>
                </a:solidFill>
              </a:rPr>
              <a:t>Рекомендуемая скорость</a:t>
            </a:r>
            <a:r>
              <a:rPr sz="1400" b="0">
                <a:solidFill>
                  <a:srgbClr val="1C1D22"/>
                </a:solidFill>
              </a:rPr>
              <a:t>: остановка до конца габарита или препятствия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1C1D22"/>
                </a:solidFill>
              </a:rPr>
              <a:t>•  </a:t>
            </a:r>
            <a:r>
              <a:rPr sz="1400" b="1">
                <a:solidFill>
                  <a:srgbClr val="1C1D22"/>
                </a:solidFill>
              </a:rPr>
              <a:t>Карта аномальности</a:t>
            </a:r>
            <a:r>
              <a:rPr sz="1400" b="0">
                <a:solidFill>
                  <a:srgbClr val="1C1D22"/>
                </a:solidFill>
              </a:rPr>
              <a:t>: высота над нормой полотна, копится по маршруту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60000" y="1188000"/>
            <a:ext cx="4248000" cy="5184000"/>
          </a:xfrm>
          <a:prstGeom prst="roundRect">
            <a:avLst>
              <a:gd name="adj" fmla="val 416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98000" rIns="198000" tIns="162000" bIns="108000"/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520977"/>
                </a:solidFill>
              </a:rPr>
              <a:t>Следующие шаги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1C1D22"/>
                </a:solidFill>
              </a:rPr>
              <a:t>•  Сравнение с картой «пустого тоннеля» — дальше и точнее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1C1D22"/>
                </a:solidFill>
              </a:rPr>
              <a:t>•  Проверка тени за объектом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1C1D22"/>
                </a:solidFill>
              </a:rPr>
              <a:t>•  Классификатор кандидатов на признаках трека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1C1D22"/>
                </a:solidFill>
              </a:rPr>
              <a:t>•  Габарит шире на высоте кузова (±1,45 м)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1C1D22"/>
                </a:solidFill>
              </a:rPr>
              <a:t>•  Стрелки и развилки — с данными поезда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1C1D22"/>
                </a:solidFill>
              </a:rPr>
              <a:t>•  Больше записей — точнее сети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Спасибо!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Подробный отчёт — REPORT.md, запуск — README.md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Arial"/>
        <a:cs typeface="Arial"/>
      </a:majorFont>
      <a:minorFont>
        <a:latin typeface="Montserrat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prstGeom prst="rect">
          <a:avLst/>
        </a:prstGeom>
        <a:solidFill>
          <a:schemeClr val="bg1">
            <a:alpha val="0"/>
          </a:schemeClr>
        </a:solidFill>
        <a:ln w="19050">
          <a:solidFill>
            <a:schemeClr val="bg1">
              <a:alpha val="47000"/>
            </a:schemeClr>
          </a:solidFill>
        </a:ln>
      </a:spPr>
      <a:bodyPr/>
      <a:lstStyle/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onlyoffice/9.2.1.1</Application>
  <PresentationFormat>On-screen Show (4:3)</PresentationFormat>
  <Paragraphs>0</Paragraphs>
  <Slides>37</Slides>
  <Notes>37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38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Анастасия Юшкова</dc:creator>
  <cp:lastModifiedBy>Аноним</cp:lastModifiedBy>
  <cp:revision>96</cp:revision>
  <dcterms:created xsi:type="dcterms:W3CDTF">2023-05-15T07:36:23Z</dcterms:created>
  <dcterms:modified xsi:type="dcterms:W3CDTF">2026-09-16T13:19:25Z</dcterms:modified>
</cp:coreProperties>
</file>