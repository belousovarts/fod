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41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tableStyles" Target="tableStyles.xml"/><Relationship Id="rId44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812951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76178070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14.09.2026</a:t>
            </a:fld>
            <a:endParaRPr lang="ru-RU"/>
          </a:p>
        </p:txBody>
      </p:sp>
      <p:sp>
        <p:nvSpPr>
          <p:cNvPr id="1008376219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657332147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61909993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32077215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Титульный слайд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682889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88029575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401620835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602869623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076004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66635619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22378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16.09.2026</a:t>
            </a:fld>
            <a:endParaRPr lang="ru-RU"/>
          </a:p>
        </p:txBody>
      </p:sp>
      <p:sp>
        <p:nvSpPr>
          <p:cNvPr id="104878655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9380906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4</a:t>
            </a:fld>
            <a:endParaRPr lang="ru-RU"/>
          </a:p>
        </p:txBody>
      </p:sp>
      <p:sp>
        <p:nvSpPr>
          <p:cNvPr id="192736678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1795973529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913937985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1548332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000063644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660029963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5602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16.09.2026</a:t>
            </a:fld>
            <a:endParaRPr lang="ru-RU"/>
          </a:p>
        </p:txBody>
      </p:sp>
      <p:sp>
        <p:nvSpPr>
          <p:cNvPr id="11232564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0745183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5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669326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1237116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16.09.2026</a:t>
            </a:fld>
            <a:endParaRPr lang="ru-RU"/>
          </a:p>
        </p:txBody>
      </p:sp>
      <p:sp>
        <p:nvSpPr>
          <p:cNvPr id="18586653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1058281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454463469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536032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4292606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8977096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16.09.2026</a:t>
            </a:fld>
            <a:endParaRPr lang="ru-RU"/>
          </a:p>
        </p:txBody>
      </p:sp>
      <p:sp>
        <p:nvSpPr>
          <p:cNvPr id="121339198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3777490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91928755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555898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7223496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731636676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91712141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2805432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16.09.2026</a:t>
            </a:fld>
            <a:endParaRPr lang="ru-RU"/>
          </a:p>
        </p:txBody>
      </p:sp>
      <p:sp>
        <p:nvSpPr>
          <p:cNvPr id="657734324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41445009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91046477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12139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16.09.2026</a:t>
            </a:fld>
            <a:endParaRPr lang="ru-RU"/>
          </a:p>
        </p:txBody>
      </p:sp>
      <p:sp>
        <p:nvSpPr>
          <p:cNvPr id="14842797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861867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85011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75281028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9636657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611987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16.09.2026</a:t>
            </a:fld>
            <a:endParaRPr lang="ru-RU"/>
          </a:p>
        </p:txBody>
      </p:sp>
      <p:sp>
        <p:nvSpPr>
          <p:cNvPr id="155615248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1458955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01652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16.09.2026</a:t>
            </a:fld>
            <a:endParaRPr lang="ru-RU"/>
          </a:p>
        </p:txBody>
      </p:sp>
      <p:sp>
        <p:nvSpPr>
          <p:cNvPr id="207534824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19872225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6834576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27087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16.09.2026</a:t>
            </a:fld>
            <a:endParaRPr lang="ru-RU"/>
          </a:p>
        </p:txBody>
      </p:sp>
      <p:sp>
        <p:nvSpPr>
          <p:cNvPr id="195041990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00584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792380901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874422937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94822356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69095115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530970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926454970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069797757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635738940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476364177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458554842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611309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680188690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95772718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89925399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256972101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1208148889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684210003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2519466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969617493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0847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16.09.2026</a:t>
            </a:fld>
            <a:endParaRPr lang="ru-RU"/>
          </a:p>
        </p:txBody>
      </p:sp>
      <p:sp>
        <p:nvSpPr>
          <p:cNvPr id="20881933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757589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177865552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39753479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7254588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1935067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0516688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5329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16.09.2026</a:t>
            </a:fld>
            <a:endParaRPr lang="ru-RU"/>
          </a:p>
        </p:txBody>
      </p:sp>
      <p:sp>
        <p:nvSpPr>
          <p:cNvPr id="149572482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84074013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03893195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808292524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31151279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8998086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709136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39403092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540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16.09.2026</a:t>
            </a:fld>
            <a:endParaRPr lang="ru-RU"/>
          </a:p>
        </p:txBody>
      </p:sp>
      <p:sp>
        <p:nvSpPr>
          <p:cNvPr id="15107933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5229932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337256866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6892924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3888215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18155805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397242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6472058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2275498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58109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16.09.2026</a:t>
            </a:fld>
            <a:endParaRPr lang="ru-RU"/>
          </a:p>
        </p:txBody>
      </p:sp>
      <p:sp>
        <p:nvSpPr>
          <p:cNvPr id="45079419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0081529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597326524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9114585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476688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3066030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9916448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6024821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652764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69505246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6930435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66927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16.09.2026</a:t>
            </a:fld>
            <a:endParaRPr lang="ru-RU"/>
          </a:p>
        </p:txBody>
      </p:sp>
      <p:sp>
        <p:nvSpPr>
          <p:cNvPr id="34375558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715226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45142924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32442884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9151942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879207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8241485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5407611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6283262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619203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5462604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49858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16.09.2026</a:t>
            </a:fld>
            <a:endParaRPr lang="ru-RU"/>
          </a:p>
        </p:txBody>
      </p:sp>
      <p:sp>
        <p:nvSpPr>
          <p:cNvPr id="144845255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3310992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12492746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1322562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240833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76004260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77609924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710853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49188184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8968598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95903953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0288170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55163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57983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16.09.2026</a:t>
            </a:fld>
            <a:endParaRPr lang="ru-RU"/>
          </a:p>
        </p:txBody>
      </p:sp>
      <p:sp>
        <p:nvSpPr>
          <p:cNvPr id="16758053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1433720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560885061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22197277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16118850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428729295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856443119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922520453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034779806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08616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8964899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16.09.2026</a:t>
            </a:fld>
            <a:endParaRPr lang="ru-RU"/>
          </a:p>
        </p:txBody>
      </p:sp>
      <p:sp>
        <p:nvSpPr>
          <p:cNvPr id="37812774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3889069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34715051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21024583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20280167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04478788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235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16.09.2026</a:t>
            </a:fld>
            <a:endParaRPr lang="ru-RU"/>
          </a:p>
        </p:txBody>
      </p:sp>
      <p:sp>
        <p:nvSpPr>
          <p:cNvPr id="11471699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3036871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59102376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3639810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722443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2558450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823724485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62474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0666637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6197673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9067376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7894898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5861159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4532877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025523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087965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589614520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545724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625227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7509977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1619468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18129555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16.09.2026</a:t>
            </a:fld>
            <a:endParaRPr lang="ru-RU"/>
          </a:p>
        </p:txBody>
      </p:sp>
      <p:sp>
        <p:nvSpPr>
          <p:cNvPr id="2139654067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87854632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93936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80386608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99003789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668171859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93250523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16.09.2026</a:t>
            </a:fld>
            <a:endParaRPr lang="ru-RU"/>
          </a:p>
        </p:txBody>
      </p:sp>
      <p:sp>
        <p:nvSpPr>
          <p:cNvPr id="79260098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5050469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64420842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56314850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54257058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0252769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2672160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 rotWithShape="1">
          <a:blip r:embed="rId25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097445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03902632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1779235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16.09.2026</a:t>
            </a:fld>
            <a:endParaRPr lang="ru-RU"/>
          </a:p>
        </p:txBody>
      </p:sp>
      <p:sp>
        <p:nvSpPr>
          <p:cNvPr id="192607067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8248768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1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468000" y="2268000"/>
            <a:ext cx="6840000" cy="2376000"/>
          </a:xfrm>
        </p:spPr>
        <p:txBody>
          <a:bodyPr/>
          <a:lstStyle/>
          <a:p>
            <a:pPr indent="0" marL="0"/>
            <a:r>
              <a:rPr sz="2800"/>
              <a:t>Система обнаружения посторонних объектов для беспилотных поездов в тоннеле метро по данным 3D-лидара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0" y="4896000"/>
          </a:xfrm>
        </p:spPr>
        <p:txBody>
          <a:bodyPr/>
          <a:lstStyle/>
          <a:p>
            <a:r>
              <a:t>Команда Attention Please  ·  Пермь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4140000" cy="612000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0"/>
          <a:lstStyle/>
          <a:p>
            <a:pPr algn="l"/>
            <a:r>
              <a:rPr sz="1700" b="1">
                <a:solidFill>
                  <a:srgbClr val="FFFFFF"/>
                </a:solidFill>
              </a:rPr>
              <a:t>О КОМАНДЕ И РЕШЕНИИ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1188000"/>
            <a:ext cx="5256000" cy="5184000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520977"/>
                </a:solidFill>
              </a:rPr>
              <a:t>Команда Attention Please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1C1D22"/>
                </a:solidFill>
              </a:rPr>
              <a:t>Белоусов Артём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C1D22"/>
                </a:solidFill>
              </a:rPr>
              <a:t>RND-инженер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1C1D22"/>
                </a:solidFill>
              </a:rPr>
              <a:t>Белоусова Надежда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C1D22"/>
                </a:solidFill>
              </a:rPr>
              <a:t>Системный аналитик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1C1D22"/>
                </a:solidFill>
              </a:rPr>
              <a:t>Участников: 2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1C1D22"/>
                </a:solidFill>
              </a:rPr>
              <a:t>Город: Пермь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1C1D22"/>
                </a:solidFill>
              </a:rPr>
              <a:t>Контакты: belousov.arts@yandex.ru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68000" y="1188000"/>
            <a:ext cx="5940000" cy="248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520977"/>
                </a:solidFill>
              </a:rPr>
              <a:t>Краткое описание решения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C1D22"/>
                </a:solidFill>
              </a:rPr>
              <a:t>По облаку лидара Hesai Pandar128 система в каждом кадре находит путь и габарит поезда и проверяет, нет ли в нём посторонних предметов.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C1D22"/>
                </a:solidFill>
              </a:rPr>
              <a:t>Выход: СВОБОДНО / ВНИМАНИЕ / ПРЕПЯТСТВИЕ, список объектов и рекомендуемая скорость.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68000" y="3888000"/>
            <a:ext cx="5940000" cy="248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20977"/>
                </a:solidFill>
              </a:rPr>
              <a:t>Уникальность решения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Своя одометрия по текстуре стен тоннеля — ICP в тоннеле без неё ошибается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Свои архитектуры нейросетей под лидар в тоннеле, обучены с нуля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Разметка для нейросетей «из будущего» — без ручной разметки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Тревога на любой предмет в габарите, даже невиданный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Свой стенд: объекты вставляются по лучам лидара, с тенью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3780000" cy="612000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0"/>
          <a:lstStyle/>
          <a:p>
            <a:pPr algn="l"/>
            <a:r>
              <a:rPr sz="1700" b="1">
                <a:solidFill>
                  <a:srgbClr val="FFFFFF"/>
                </a:solidFill>
              </a:rPr>
              <a:t>КОРОТКО О РЕШЕНИИ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1188000"/>
            <a:ext cx="2736000" cy="151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/>
          <a:lstStyle/>
          <a:p>
            <a:pPr algn="ctr"/>
            <a:r>
              <a:rPr sz="3000" b="1">
                <a:solidFill>
                  <a:srgbClr val="FF0053"/>
                </a:solidFill>
              </a:rPr>
              <a:t>150 м</a:t>
            </a:r>
          </a:p>
          <a:p>
            <a:pPr algn="ctr"/>
            <a:r>
              <a:rPr sz="1200" b="0">
                <a:solidFill>
                  <a:srgbClr val="1C1D22"/>
                </a:solidFill>
              </a:rPr>
              <a:t>проверка габарита
(медиана пути 154 м)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58000" y="1188000"/>
            <a:ext cx="2736000" cy="151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/>
          <a:lstStyle/>
          <a:p>
            <a:pPr algn="ctr"/>
            <a:r>
              <a:rPr sz="3000" b="1">
                <a:solidFill>
                  <a:srgbClr val="FF0053"/>
                </a:solidFill>
              </a:rPr>
              <a:t>114 м</a:t>
            </a:r>
          </a:p>
          <a:p>
            <a:pPr algn="ctr"/>
            <a:r>
              <a:rPr sz="1200" b="0">
                <a:solidFill>
                  <a:srgbClr val="1C1D22"/>
                </a:solidFill>
              </a:rPr>
              <a:t>человек подтверждён
(ВНИМАНИЕ со 137 м)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56000" y="1188000"/>
            <a:ext cx="2736000" cy="151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/>
          <a:lstStyle/>
          <a:p>
            <a:pPr algn="ctr"/>
            <a:r>
              <a:rPr sz="3000" b="1">
                <a:solidFill>
                  <a:srgbClr val="FF0053"/>
                </a:solidFill>
              </a:rPr>
              <a:t>0</a:t>
            </a:r>
          </a:p>
          <a:p>
            <a:pPr algn="ctr"/>
            <a:r>
              <a:rPr sz="1200" b="0">
                <a:solidFill>
                  <a:srgbClr val="1C1D22"/>
                </a:solidFill>
              </a:rPr>
              <a:t>ложных тревог
за 22 минуты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4000" y="1188000"/>
            <a:ext cx="2736000" cy="151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/>
          <a:lstStyle/>
          <a:p>
            <a:pPr algn="ctr"/>
            <a:r>
              <a:rPr sz="3000" b="1">
                <a:solidFill>
                  <a:srgbClr val="FF0053"/>
                </a:solidFill>
              </a:rPr>
              <a:t>75–90 мс</a:t>
            </a:r>
          </a:p>
          <a:p>
            <a:pPr algn="ctr"/>
            <a:r>
              <a:rPr sz="1200" b="0">
                <a:solidFill>
                  <a:srgbClr val="1C1D22"/>
                </a:solidFill>
              </a:rPr>
              <a:t>на кадр
(лидар — 100 мс)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2880000"/>
            <a:ext cx="11448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</a:rPr>
              <a:t>Мы не распознаём «все возможные предметы». Мы точно строим, где проходит путь, и тревожим на всё, что поднимается над нормальным полотном внутри габарита и держится 4 кадра из 5.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0116" y="3581999"/>
            <a:ext cx="11387766" cy="2844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116" y="3671999"/>
            <a:ext cx="11207766" cy="266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4500000" cy="612000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0"/>
          <a:lstStyle/>
          <a:p>
            <a:pPr algn="l"/>
            <a:r>
              <a:rPr sz="1700" b="1">
                <a:solidFill>
                  <a:srgbClr val="FFFFFF"/>
                </a:solidFill>
              </a:rPr>
              <a:t>ДАННЫЕ И ИХ СЛОЖНОСТИ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1188000"/>
            <a:ext cx="4968000" cy="5184000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520977"/>
                </a:solidFill>
              </a:rPr>
              <a:t>Что есть в записях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1C1D22"/>
                </a:solidFill>
              </a:rPr>
              <a:t>Только облако лидара.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C1D22"/>
                </a:solidFill>
              </a:rPr>
              <a:t>•  Нет скорости, одометрии, положения на маршруте, карты и разметки — всё это мы вычисляем сами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1C1D22"/>
                </a:solidFill>
              </a:rPr>
              <a:t>Облако разреженное.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C1D22"/>
                </a:solidFill>
              </a:rPr>
              <a:t>•  На 150 м лучи расходятся на 26 × 33 см, головка рельса — 7 см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C1D22"/>
                </a:solidFill>
              </a:rPr>
              <a:t>•  На 100 м полоса пути 2 м содержит ≥ 5 точек лишь в 15 % кадров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1C1D22"/>
                </a:solidFill>
              </a:rPr>
              <a:t>Около 33 минут записей: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C1D22"/>
                </a:solidFill>
              </a:rPr>
              <a:t>•  new_data 20 мин (~14 км), 6 коротких записей, проезд с препятствиями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C1D22"/>
                </a:solidFill>
              </a:rPr>
              <a:t>•  cloud_clean мы сделали сами из проезда с препятствиями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54000" y="2426210"/>
            <a:ext cx="6443999" cy="270757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ln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4000" y="2516210"/>
            <a:ext cx="6263999" cy="25275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5040000" cy="612000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0"/>
          <a:lstStyle/>
          <a:p>
            <a:pPr algn="l"/>
            <a:r>
              <a:rPr sz="1700" b="1">
                <a:solidFill>
                  <a:srgbClr val="FFFFFF"/>
                </a:solidFill>
              </a:rPr>
              <a:t>ПОЧЕМУ 300 М НЕДОСТИЖИМЫ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12495" y="1062000"/>
            <a:ext cx="8743009" cy="2988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ings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495" y="1152000"/>
            <a:ext cx="8563009" cy="280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0000" y="4176000"/>
            <a:ext cx="3671999" cy="151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520977"/>
                </a:solidFill>
              </a:rPr>
              <a:t>Паспорт лидара ~200 м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C1D22"/>
                </a:solidFill>
              </a:rPr>
              <a:t>В записях нет ни одной настоящей точки дальше 209 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12000" y="4176000"/>
            <a:ext cx="3671999" cy="151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520977"/>
                </a:solidFill>
              </a:rPr>
              <a:t>Полотно под лучами редко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C1D22"/>
                </a:solidFill>
              </a:rPr>
              <a:t>На прямой между 150 и 300 м полотна касаются всего 2 кольца. Человек на 300 м — 1–3 точки.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63999" y="4176000"/>
            <a:ext cx="3671999" cy="151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520977"/>
                </a:solidFill>
              </a:rPr>
              <a:t>Кривые закрывают обзор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C1D22"/>
                </a:solidFill>
              </a:rPr>
              <a:t>Видимость ≈ 2√(2·R·m): 150 м при R ≈ 1400 м, 300 м — только при R &gt; 5 км.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5796000"/>
            <a:ext cx="1144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</a:rPr>
              <a:t>Цель — честные 150 м:</a:t>
            </a:r>
            <a:r>
              <a:rPr sz="1300" b="0">
                <a:solidFill>
                  <a:srgbClr val="FFFFFF"/>
                </a:solidFill>
              </a:rPr>
              <a:t> проверяем, пока путь реально виден. Этого хватает для остановки с 65 км/ч (торможение 1,3 м/с²).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3960000" cy="612000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0"/>
          <a:lstStyle/>
          <a:p>
            <a:pPr algn="l"/>
            <a:r>
              <a:rPr sz="1700" b="1">
                <a:solidFill>
                  <a:srgbClr val="FFFFFF"/>
                </a:solidFill>
              </a:rPr>
              <a:t>ПРОБЛЕМЫ В ЗАПИСЯХ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1188000"/>
            <a:ext cx="11448000" cy="1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520977"/>
                </a:solidFill>
              </a:rPr>
              <a:t>new_data рвётся ближе к концу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C1D22"/>
                </a:solidFill>
              </a:rPr>
              <a:t>Первые 13 минут без пропусков, дальше 46 разрывов до 7 с (всего ~87 с). Тракт сбрасывает одометрию после разрыва, при обучении такие участки исключены.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2448000"/>
            <a:ext cx="1144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</a:rPr>
              <a:t>cloud_with_fake_obj: синтетику можно найти, не решая задачу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0000" y="2880000"/>
          <a:ext cx="11448000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4104000"/>
                <a:gridCol w="4824000"/>
              </a:tblGrid>
              <a:tr h="396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Признак</a:t>
                      </a:r>
                    </a:p>
                  </a:txBody>
                  <a:tcPr marL="72000" marR="72000" anchor="ctr">
                    <a:solidFill>
                      <a:srgbClr val="5209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Настоящие точки</a:t>
                      </a:r>
                    </a:p>
                  </a:txBody>
                  <a:tcPr marL="72000" marR="72000" anchor="ctr">
                    <a:solidFill>
                      <a:srgbClr val="5209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Вставленные объекты</a:t>
                      </a:r>
                    </a:p>
                  </a:txBody>
                  <a:tcPr marL="72000" marR="72000" anchor="ctr">
                    <a:solidFill>
                      <a:srgbClr val="520977"/>
                    </a:solidFill>
                  </a:tcPr>
                </a:tc>
              </a:tr>
              <a:tr h="3960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Интенсивность</a:t>
                      </a: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медиана 8; ровно 1 — у 4 % точек</a:t>
                      </a: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ровно 1 у всех точек</a:t>
                      </a: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Место в облаке</a:t>
                      </a:r>
                    </a:p>
                  </a:txBody>
                  <a:tcPr marL="72000" marR="72000" anchor="ctr">
                    <a:solidFill>
                      <a:srgbClr val="FFD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сетка 128 колец × 2400 колонок</a:t>
                      </a:r>
                    </a:p>
                  </a:txBody>
                  <a:tcPr marL="72000" marR="72000" anchor="ctr">
                    <a:solidFill>
                      <a:srgbClr val="FFD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дописаны в конец, без ring и timestamp</a:t>
                      </a:r>
                    </a:p>
                  </a:txBody>
                  <a:tcPr marL="72000" marR="72000" anchor="ctr">
                    <a:solidFill>
                      <a:srgbClr val="FFD6E4"/>
                    </a:solidFill>
                  </a:tcPr>
                </a:tc>
              </a:tr>
              <a:tr h="3960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Дальность</a:t>
                      </a: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не дальше 209 м</a:t>
                      </a: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до 300 м — в 301 кадре дальше 200 м</a:t>
                      </a: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60000" y="4680000"/>
            <a:ext cx="11448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Мы эти артефакты как признаки не используем. Дальность обнаружения меряем на своём стенде, где объекты вставлены по лучам лидара, с реалистичной интенсивностью и тенью.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Из этой записи мы сделали чистый проезд cloud_clean: вырезали вставленные точки, вернули сетку колец и поля ring / timestamp.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4860000" cy="612000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0"/>
          <a:lstStyle/>
          <a:p>
            <a:pPr algn="l"/>
            <a:r>
              <a:rPr sz="1700" b="1">
                <a:solidFill>
                  <a:srgbClr val="FFFFFF"/>
                </a:solidFill>
              </a:rPr>
              <a:t>КАК ПРЕДСТАВЛЯТЬ ОБЛАКО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0000" y="1739571"/>
            <a:ext cx="7560000" cy="408085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present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829571"/>
            <a:ext cx="7380000" cy="390085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992000" y="1152000"/>
            <a:ext cx="3816000" cy="5256000"/>
          </a:xfrm>
          <a:prstGeom prst="roundRect">
            <a:avLst>
              <a:gd name="adj" fmla="val 41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20977"/>
                </a:solidFill>
              </a:rPr>
              <a:t>Почему не точки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C1D22"/>
                </a:solidFill>
              </a:rPr>
              <a:t>В «мешке точек» теряется соседство, а объекты вдали — несколько точек. Поэтому 4 представления: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1C1D22"/>
                </a:solidFill>
              </a:rPr>
              <a:t>Range image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C1D22"/>
                </a:solidFill>
              </a:rPr>
              <a:t>•  сетка сенсора; сеть рельсов вблизи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1C1D22"/>
                </a:solidFill>
              </a:rPr>
              <a:t>Развёртка стен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C1D22"/>
                </a:solidFill>
              </a:rPr>
              <a:t>•  текстура стен; наша одометрия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1C1D22"/>
                </a:solidFill>
              </a:rPr>
              <a:t>Вид сверху по оси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C1D22"/>
                </a:solidFill>
              </a:rPr>
              <a:t>•  10 кадров вместе; сеть вдали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1C1D22"/>
                </a:solidFill>
              </a:rPr>
              <a:t>Координаты пути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C1D22"/>
                </a:solidFill>
              </a:rPr>
              <a:t>•  габарит — прямоугольник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2340000" cy="612000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0"/>
          <a:lstStyle/>
          <a:p>
            <a:pPr algn="l"/>
            <a:r>
              <a:rPr sz="1700" b="1">
                <a:solidFill>
                  <a:srgbClr val="FFFFFF"/>
                </a:solidFill>
              </a:rPr>
              <a:t>КОНЦЕПЦИЯ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1188000"/>
            <a:ext cx="5616000" cy="230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20977"/>
                </a:solidFill>
              </a:rPr>
              <a:t>A. Через карту маршрута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Один раз снять маршрут, разметить путь, построить «пустой тоннель» и сравнивать с ним.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Нужны повторные проезды, положение на маршруте, стрелки. Таких данных нет.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92000" y="1188000"/>
            <a:ext cx="5616000" cy="2304000"/>
          </a:xfrm>
          <a:prstGeom prst="roundRect">
            <a:avLst>
              <a:gd name="adj" fmla="val 8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20977"/>
                </a:solidFill>
              </a:rPr>
              <a:t>B. По тому, что видно сейчас — выбрали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В каждом кадре найти рельсы, ось и габарит, проверить точки выше нормы полотна.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Работает на любой записи. Задел для A тоже есть: карта уже строится.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5844" y="3618000"/>
            <a:ext cx="11236310" cy="2808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844" y="3708000"/>
            <a:ext cx="11056310" cy="262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2340000" cy="612000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0"/>
          <a:lstStyle/>
          <a:p>
            <a:pPr algn="l"/>
            <a:r>
              <a:rPr sz="1700" b="1">
                <a:solidFill>
                  <a:srgbClr val="FFFFFF"/>
                </a:solidFill>
              </a:rPr>
              <a:t>ОДОМЕТРИЯ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1188000"/>
            <a:ext cx="4608000" cy="5184000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20977"/>
                </a:solidFill>
              </a:rPr>
              <a:t>Как и почему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1C1D22"/>
                </a:solidFill>
              </a:rPr>
              <a:t>Одометрия по выравниванию сцен: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C1D22"/>
                </a:solidFill>
              </a:rPr>
              <a:t>•  ищем сдвиг и поворот, при которых облако совпадает с прошлым; ICP делает это итеративно по ближайшим точкам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1C1D22"/>
                </a:solidFill>
              </a:rPr>
              <a:t>Почему ошибается: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C1D22"/>
                </a:solidFill>
              </a:rPr>
              <a:t>•  тоннель вырожден вдоль оси: ICP дал −0,71 м вместо +1,54 м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C1D22"/>
                </a:solidFill>
              </a:rPr>
              <a:t>•  без начального приближения не сходится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C1D22"/>
                </a:solidFill>
              </a:rPr>
              <a:t>•  на пропусках кадров приближение неверно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1C1D22"/>
                </a:solidFill>
              </a:rPr>
              <a:t>Наше решение: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C1D22"/>
                </a:solidFill>
              </a:rPr>
              <a:t>•  путь — фазовая корреляция развёртки стен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C1D22"/>
                </a:solidFill>
              </a:rPr>
              <a:t>•  поворот — профиль стен на 12–95 м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C1D22"/>
                </a:solidFill>
              </a:rPr>
              <a:t>•  это приближение для small_gicp: 9 мс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94000" y="1678663"/>
            <a:ext cx="6803999" cy="420267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do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000" y="1768663"/>
            <a:ext cx="6623999" cy="40226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4500000" cy="612000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0"/>
          <a:lstStyle/>
          <a:p>
            <a:pPr algn="l"/>
            <a:r>
              <a:rPr sz="1700" b="1">
                <a:solidFill>
                  <a:srgbClr val="FFFFFF"/>
                </a:solidFill>
              </a:rPr>
              <a:t>РЕЛЬСЫ ВБЛИЗИ: ШАБЛОН</a:t>
            </a:r>
          </a:p>
        </p:txBody>
      </p:sp>
      <p:pic>
        <p:nvPicPr>
          <p:cNvPr id="3" name="Picture 2" descr="template_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628756"/>
            <a:ext cx="6336000" cy="430248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912000" y="1188000"/>
            <a:ext cx="4896000" cy="5184000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20977"/>
                </a:solidFill>
              </a:rPr>
              <a:t>Что измерили в данных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Центры головок в 1,56–1,66 м друг от друга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Головка выше окружения на 9–18 см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</a:t>
            </a:r>
            <a:r>
              <a:rPr sz="1300" b="1">
                <a:solidFill>
                  <a:srgbClr val="1C1D22"/>
                </a:solidFill>
              </a:rPr>
              <a:t>Интенсивность на головке ниже</a:t>
            </a:r>
            <a:r>
              <a:rPr sz="1300" b="0">
                <a:solidFill>
                  <a:srgbClr val="1C1D22"/>
                </a:solidFill>
              </a:rPr>
              <a:t>: медиана 2 против 7–8 у полотна; сталь отражает луч в сторону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Тёмный цвет на развёртке — низкая интенсивность, поэтому рельсы тёмные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1C1D22"/>
                </a:solidFill>
              </a:rPr>
              <a:t>Шаблон: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идёт от поезда вдаль по продолжению оси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между кадрами ось держит фильтр Калмана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точен до сантиметров, но только до 50–60 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5220000" cy="612000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0"/>
          <a:lstStyle/>
          <a:p>
            <a:pPr algn="l"/>
            <a:r>
              <a:rPr sz="1700" b="1">
                <a:solidFill>
                  <a:srgbClr val="FFFFFF"/>
                </a:solidFill>
              </a:rPr>
              <a:t>ВДАЛИ — МАШИННОЕ ОБУЧЕНИЕ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1188000"/>
            <a:ext cx="5616000" cy="31680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20977"/>
                </a:solidFill>
              </a:rPr>
              <a:t>Геометрии не хватает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Профиль тоннеля: ось до 80–100 м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Контактный рельс: до ~120 м, где виден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Тоннели разные: круглые, прямоугольные, платформы, гермозатворы, стрелки. Правила ломаются, а </a:t>
            </a:r>
            <a:r>
              <a:rPr sz="1300" b="1">
                <a:solidFill>
                  <a:srgbClr val="1C1D22"/>
                </a:solidFill>
              </a:rPr>
              <a:t>закономерности вдали может выучить только модель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92000" y="1188000"/>
            <a:ext cx="5616000" cy="31680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20977"/>
                </a:solidFill>
              </a:rPr>
              <a:t>Карта и разметка — из нашей одометрии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Позы сводят все кадры в общую карту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</a:t>
            </a:r>
            <a:r>
              <a:rPr sz="1300" b="1">
                <a:solidFill>
                  <a:srgbClr val="1C1D22"/>
                </a:solidFill>
              </a:rPr>
              <a:t>Разметка «из будущего»</a:t>
            </a:r>
            <a:r>
              <a:rPr sz="1300" b="0">
                <a:solidFill>
                  <a:srgbClr val="1C1D22"/>
                </a:solidFill>
              </a:rPr>
              <a:t>: поезд доедет до места на 150 м и увидит его вблизи; его траектория и есть ось пути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Без ручной разметки; проверка — на других записях</a:t>
            </a:r>
          </a:p>
        </p:txBody>
      </p:sp>
      <p:pic>
        <p:nvPicPr>
          <p:cNvPr id="5" name="Picture 4" descr="map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317" y="4572000"/>
            <a:ext cx="6585365" cy="180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3060000" cy="612000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0"/>
          <a:lstStyle/>
          <a:p>
            <a:pPr algn="l"/>
            <a:r>
              <a:rPr sz="1700" b="1">
                <a:solidFill>
                  <a:srgbClr val="FFFFFF"/>
                </a:solidFill>
              </a:rPr>
              <a:t>ДВЕ НЕЙРОСЕТИ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1188000"/>
            <a:ext cx="5616000" cy="226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20977"/>
                </a:solidFill>
              </a:rPr>
              <a:t>Вблизи: RailSegNet (3,2 млн)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C1D22"/>
                </a:solidFill>
              </a:rPr>
              <a:t>•  Вход: range image 128 × 1200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C1D22"/>
                </a:solidFill>
              </a:rPr>
              <a:t>•  Выход: левая, правая головка, контактный рельс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C1D22"/>
                </a:solidFill>
              </a:rPr>
              <a:t>•  Проверка: IoU головок 0,98, контактного рельса 0,93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92000" y="1188000"/>
            <a:ext cx="5616000" cy="226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20977"/>
                </a:solidFill>
              </a:rPr>
              <a:t>Вдали: FarBevNet (5,0 млн)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C1D22"/>
                </a:solidFill>
              </a:rPr>
              <a:t>•  Вход: вид сверху по оси, 10–170 м, 10 кадров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C1D22"/>
                </a:solidFill>
              </a:rPr>
              <a:t>•  Выход: распределение положения оси каждые 2 м и σ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C1D22"/>
                </a:solidFill>
              </a:rPr>
              <a:t>•  Ошибка на 120–140 м: 19 см против 146 см без сети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000" y="3510000"/>
            <a:ext cx="4380000" cy="234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ail_se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000" y="3600000"/>
            <a:ext cx="4200000" cy="2160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47500" y="3510000"/>
            <a:ext cx="4905000" cy="234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ar_b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500" y="3600000"/>
            <a:ext cx="4725000" cy="216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0000" y="5903999"/>
            <a:ext cx="11448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</a:rPr>
              <a:t>Архитектуры свои</a:t>
            </a:r>
            <a:r>
              <a:rPr sz="1200" b="0">
                <a:solidFill>
                  <a:srgbClr val="FFFFFF"/>
                </a:solidFill>
              </a:rPr>
              <a:t>, спроектированы под вход и выход задачи, обучены с нуля. Сети не заучили проезды: качество измерено на записях, которых они не видели; с новыми данными станут точнее.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4140000" cy="612000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0"/>
          <a:lstStyle/>
          <a:p>
            <a:pPr algn="l"/>
            <a:r>
              <a:rPr sz="1700" b="1">
                <a:solidFill>
                  <a:srgbClr val="FFFFFF"/>
                </a:solidFill>
              </a:rPr>
              <a:t>СЛИЯНИЕ И ДАЛЬНОСТЬ</a:t>
            </a:r>
          </a:p>
        </p:txBody>
      </p:sp>
      <p:pic>
        <p:nvPicPr>
          <p:cNvPr id="3" name="Picture 2" descr="far_gau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189912"/>
            <a:ext cx="6623999" cy="518017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200000" y="1188000"/>
            <a:ext cx="4608000" cy="5184000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20977"/>
                </a:solidFill>
              </a:rPr>
              <a:t>Сети усиливают, а не заменяют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Все источники слиты по σ, ось хранится в мире — габарит не дрожит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Другая установка лидара: сеть молчит, включается шаблон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Где сеть не уверена, габарит честно короче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1C1D22"/>
                </a:solidFill>
              </a:rPr>
              <a:t>Дальность: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габарит — до 150 м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ось: медиана 154 м, до 140 м в 81 % кадров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ошибка на 120–140 м: 13 см вбок, 12 см по высоте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без дальней сети было бы 80–100 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4860000" cy="612000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0"/>
          <a:lstStyle/>
          <a:p>
            <a:pPr algn="l"/>
            <a:r>
              <a:rPr sz="1700" b="1">
                <a:solidFill>
                  <a:srgbClr val="FFFFFF"/>
                </a:solidFill>
              </a:rPr>
              <a:t>ОБНАРУЖЕНИЕ ПРЕПЯТСТВИЙ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0000" y="1102254"/>
            <a:ext cx="5796000" cy="344749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auge_no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192254"/>
            <a:ext cx="5616000" cy="326749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102000" y="1102254"/>
            <a:ext cx="5796000" cy="344749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hresh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000" y="1192254"/>
            <a:ext cx="5616000" cy="326749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60000" y="4752000"/>
            <a:ext cx="2736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20977"/>
                </a:solidFill>
              </a:rPr>
              <a:t>1. Габарит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C1D22"/>
                </a:solidFill>
              </a:rPr>
              <a:t>±1,05 × 3 м, 4–150 м; вырез между рельсами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8000" y="4752000"/>
            <a:ext cx="2736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20977"/>
                </a:solidFill>
              </a:rPr>
              <a:t>2. Норма полотна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C1D22"/>
                </a:solidFill>
              </a:rPr>
              <a:t>по ближней зоне; на стоянке заморожена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6000" y="4752000"/>
            <a:ext cx="2736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20977"/>
                </a:solidFill>
              </a:rPr>
              <a:t>3. Кандидаты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C1D22"/>
                </a:solidFill>
              </a:rPr>
              <a:t>выше нормы на порог с изломом на 60 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4000" y="4752000"/>
            <a:ext cx="2736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20977"/>
                </a:solidFill>
              </a:rPr>
              <a:t>4. ВНИМАНИЕ → ПРЕПЯТСТВИЕ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C1D22"/>
                </a:solidFill>
              </a:rPr>
              <a:t>2 попадания → 4 кадра из 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3780000" cy="612000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0"/>
          <a:lstStyle/>
          <a:p>
            <a:pPr algn="l"/>
            <a:r>
              <a:rPr sz="1700" b="1">
                <a:solidFill>
                  <a:srgbClr val="FFFFFF"/>
                </a:solidFill>
              </a:rPr>
              <a:t>РЕЗУЛЬТАТЫ СТЕНДА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0000" y="1188000"/>
          <a:ext cx="7200000" cy="2483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6000"/>
                <a:gridCol w="1872000"/>
                <a:gridCol w="1872000"/>
              </a:tblGrid>
              <a:tr h="413999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Объект на оси</a:t>
                      </a:r>
                    </a:p>
                  </a:txBody>
                  <a:tcPr marL="72000" marR="72000" anchor="ctr">
                    <a:solidFill>
                      <a:srgbClr val="5209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ВНИМАНИЕ</a:t>
                      </a:r>
                    </a:p>
                  </a:txBody>
                  <a:tcPr marL="72000" marR="72000" anchor="ctr">
                    <a:solidFill>
                      <a:srgbClr val="5209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Подтверждение</a:t>
                      </a:r>
                    </a:p>
                  </a:txBody>
                  <a:tcPr marL="72000" marR="72000" anchor="ctr">
                    <a:solidFill>
                      <a:srgbClr val="520977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Человек</a:t>
                      </a: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137 м</a:t>
                      </a: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114 м</a:t>
                      </a: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Щит 2 × 1,9 м</a:t>
                      </a:r>
                    </a:p>
                  </a:txBody>
                  <a:tcPr marL="72000" marR="72000" anchor="ctr">
                    <a:solidFill>
                      <a:srgbClr val="FFD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149 м</a:t>
                      </a:r>
                    </a:p>
                  </a:txBody>
                  <a:tcPr marL="72000" marR="72000" anchor="ctr">
                    <a:solidFill>
                      <a:srgbClr val="FFD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129 м</a:t>
                      </a:r>
                    </a:p>
                  </a:txBody>
                  <a:tcPr marL="72000" marR="72000" anchor="ctr">
                    <a:solidFill>
                      <a:srgbClr val="FFD6E4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Ящик 0,5 м</a:t>
                      </a: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91 м</a:t>
                      </a: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85 м</a:t>
                      </a: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Куб 0,3 м</a:t>
                      </a:r>
                    </a:p>
                  </a:txBody>
                  <a:tcPr marL="72000" marR="72000" anchor="ctr">
                    <a:solidFill>
                      <a:srgbClr val="FFD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82 м</a:t>
                      </a:r>
                    </a:p>
                  </a:txBody>
                  <a:tcPr marL="72000" marR="72000" anchor="ctr">
                    <a:solidFill>
                      <a:srgbClr val="FFD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70 м</a:t>
                      </a:r>
                    </a:p>
                  </a:txBody>
                  <a:tcPr marL="72000" marR="72000" anchor="ctr">
                    <a:solidFill>
                      <a:srgbClr val="FFD6E4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Плоский 10 см между рельсами</a:t>
                      </a: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40 м</a:t>
                      </a: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не подтв.</a:t>
                      </a: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0000" y="3744000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</a:rPr>
              <a:t>Медианы по 11 подъездам на объект; разрыв ВНИМАНИЕ → подтверждение 5–12 м.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000" y="4248000"/>
            <a:ext cx="7200000" cy="21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C1D22"/>
                </a:solidFill>
              </a:rPr>
              <a:t>0 ложных тревог за 22 минуты чистых записей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C1D22"/>
                </a:solidFill>
              </a:rPr>
              <a:t>•  Настоящие человек и предмет 16 см на рельсе (doubleT_obstacle) — оба подтверждены на 56 м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C1D22"/>
                </a:solidFill>
              </a:rPr>
              <a:t>•  Плоский предмет между рельсами ниже выреза габарита — цена отсутствия ложных от табличек</a:t>
            </a:r>
          </a:p>
        </p:txBody>
      </p:sp>
      <p:pic>
        <p:nvPicPr>
          <p:cNvPr id="6" name="Picture 5" descr="rail_ob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000" y="2203425"/>
            <a:ext cx="4031999" cy="315314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3600000" cy="612000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0"/>
          <a:lstStyle/>
          <a:p>
            <a:pPr algn="l"/>
            <a:r>
              <a:rPr sz="1700" b="1">
                <a:solidFill>
                  <a:srgbClr val="FFFFFF"/>
                </a:solidFill>
              </a:rPr>
              <a:t>СТЕНД-СИНТЕЗАТОР</a:t>
            </a:r>
          </a:p>
        </p:txBody>
      </p:sp>
      <p:pic>
        <p:nvPicPr>
          <p:cNvPr id="3" name="Picture 2" descr="st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279124"/>
            <a:ext cx="5472000" cy="500175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048000" y="1188000"/>
            <a:ext cx="5760000" cy="5184000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20977"/>
                </a:solidFill>
              </a:rPr>
              <a:t>Зачем и как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В данных нет подъезда к настоящему предмету издалека — без стенда дальность не измерить.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1C1D22"/>
                </a:solidFill>
              </a:rPr>
              <a:t>Как вставляет: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каждый луч кадра пересекается с объектом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точка на объекте: шум 2 см, два возврата, интенсивность как у тоннеля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лучи за объектом пропадают — настоящая тень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1C1D22"/>
                </a:solidFill>
              </a:rPr>
              <a:t>Что задаётся и выдаёт: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сценарий YAML: тип, размер, место, смещение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первый луч, ВНИМАНИЕ, подтверждение, ложные, видео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5220000" cy="612000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0"/>
          <a:lstStyle/>
          <a:p>
            <a:pPr algn="l"/>
            <a:r>
              <a:rPr sz="1700" b="1">
                <a:solidFill>
                  <a:srgbClr val="FFFFFF"/>
                </a:solidFill>
              </a:rPr>
              <a:t>БЫСТРОДЕЙСТВИЕ И ПОСТАВКА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1188000"/>
            <a:ext cx="3671999" cy="14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/>
          <a:lstStyle/>
          <a:p>
            <a:pPr algn="ctr"/>
            <a:r>
              <a:rPr sz="3000" b="1">
                <a:solidFill>
                  <a:srgbClr val="FF0053"/>
                </a:solidFill>
              </a:rPr>
              <a:t>75–90 мс</a:t>
            </a:r>
          </a:p>
          <a:p>
            <a:pPr algn="ctr"/>
            <a:r>
              <a:rPr sz="1200" b="0">
                <a:solidFill>
                  <a:srgbClr val="1C1D22"/>
                </a:solidFill>
              </a:rPr>
              <a:t>на кадр, RTX 5080 Laptop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12000" y="1188000"/>
            <a:ext cx="3671999" cy="14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/>
          <a:lstStyle/>
          <a:p>
            <a:pPr algn="ctr"/>
            <a:r>
              <a:rPr sz="3000" b="1">
                <a:solidFill>
                  <a:srgbClr val="FF0053"/>
                </a:solidFill>
              </a:rPr>
              <a:t>3 потока</a:t>
            </a:r>
          </a:p>
          <a:p>
            <a:pPr algn="ctr"/>
            <a:r>
              <a:rPr sz="1200" b="0">
                <a:solidFill>
                  <a:srgbClr val="1C1D22"/>
                </a:solidFill>
              </a:rPr>
              <a:t>чтение → одометрия и сеть → ось и детектор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63999" y="1188000"/>
            <a:ext cx="3671999" cy="14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/>
          <a:lstStyle/>
          <a:p>
            <a:pPr algn="ctr"/>
            <a:r>
              <a:rPr sz="3000" b="1">
                <a:solidFill>
                  <a:srgbClr val="FF0053"/>
                </a:solidFill>
              </a:rPr>
              <a:t>18 мс</a:t>
            </a:r>
          </a:p>
          <a:p>
            <a:pPr algn="ctr"/>
            <a:r>
              <a:rPr sz="1200" b="0">
                <a:solidFill>
                  <a:srgbClr val="1C1D22"/>
                </a:solidFill>
              </a:rPr>
              <a:t>обе сети вместе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2844000"/>
            <a:ext cx="5616000" cy="352800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520977"/>
                </a:solidFill>
              </a:rPr>
              <a:t>Работа в реальном времени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1C1D22"/>
                </a:solidFill>
              </a:rPr>
              <a:t>•  Узел всегда берёт самый свежий кадр — отставание не копится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1C1D22"/>
                </a:solidFill>
              </a:rPr>
              <a:t>•  Подготовка данных перенесена на видеокарту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1C1D22"/>
                </a:solidFill>
              </a:rPr>
              <a:t>•  920 тыс. точек в кадре (другой драйвер): 160–200 мс, узел пропускает лишние кадры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844000"/>
            <a:ext cx="5616000" cy="352800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520977"/>
                </a:solidFill>
              </a:rPr>
              <a:t>Что в поставке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1C1D22"/>
                </a:solidFill>
              </a:rPr>
              <a:t>•  Узел ROS 2: /fod/status, /fod/obstacles, /fod/markers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1C1D22"/>
                </a:solidFill>
              </a:rPr>
              <a:t>•  Docker, запуск в 3 команды, служба для поезда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1C1D22"/>
                </a:solidFill>
              </a:rPr>
              <a:t>•  Видео, 3D-просмотр в rerun, RViz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1C1D22"/>
                </a:solidFill>
              </a:rPr>
              <a:t>•  Карта записи и стенд препятствий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2520000" cy="612000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0"/>
          <a:lstStyle/>
          <a:p>
            <a:pPr algn="l"/>
            <a:r>
              <a:rPr sz="1700" b="1">
                <a:solidFill>
                  <a:srgbClr val="FFFFFF"/>
                </a:solidFill>
              </a:rPr>
              <a:t>ЧТО ДАЛЬШЕ</a:t>
            </a:r>
          </a:p>
        </p:txBody>
      </p:sp>
      <p:pic>
        <p:nvPicPr>
          <p:cNvPr id="3" name="Picture 2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226329"/>
            <a:ext cx="2520000" cy="510734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096000" y="1188000"/>
            <a:ext cx="4248000" cy="5184000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520977"/>
                </a:solidFill>
              </a:rPr>
              <a:t>Уже можно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C1D22"/>
                </a:solidFill>
              </a:rPr>
              <a:t>•  </a:t>
            </a:r>
            <a:r>
              <a:rPr sz="1400" b="1">
                <a:solidFill>
                  <a:srgbClr val="1C1D22"/>
                </a:solidFill>
              </a:rPr>
              <a:t>Карта маршрута</a:t>
            </a:r>
            <a:r>
              <a:rPr sz="1400" b="0">
                <a:solidFill>
                  <a:srgbClr val="1C1D22"/>
                </a:solidFill>
              </a:rPr>
              <a:t>: 14 км new_data одной цепочкой одометрии; облако, плитки 3 см/пикс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C1D22"/>
                </a:solidFill>
              </a:rPr>
              <a:t>•  </a:t>
            </a:r>
            <a:r>
              <a:rPr sz="1400" b="1">
                <a:solidFill>
                  <a:srgbClr val="1C1D22"/>
                </a:solidFill>
              </a:rPr>
              <a:t>Рекомендуемая скорость</a:t>
            </a:r>
            <a:r>
              <a:rPr sz="1400" b="0">
                <a:solidFill>
                  <a:srgbClr val="1C1D22"/>
                </a:solidFill>
              </a:rPr>
              <a:t>: остановка до конца габарита или препятствия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C1D22"/>
                </a:solidFill>
              </a:rPr>
              <a:t>•  </a:t>
            </a:r>
            <a:r>
              <a:rPr sz="1400" b="1">
                <a:solidFill>
                  <a:srgbClr val="1C1D22"/>
                </a:solidFill>
              </a:rPr>
              <a:t>Карта аномальности</a:t>
            </a:r>
            <a:r>
              <a:rPr sz="1400" b="0">
                <a:solidFill>
                  <a:srgbClr val="1C1D22"/>
                </a:solidFill>
              </a:rPr>
              <a:t>: высота над нормой полотна, копится по маршруту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60000" y="1188000"/>
            <a:ext cx="4248000" cy="5184000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520977"/>
                </a:solidFill>
              </a:rPr>
              <a:t>Следующие шаги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C1D22"/>
                </a:solidFill>
              </a:rPr>
              <a:t>•  Сравнение с картой «пустого тоннеля» — дальше и точнее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C1D22"/>
                </a:solidFill>
              </a:rPr>
              <a:t>•  Проверка тени за объектом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C1D22"/>
                </a:solidFill>
              </a:rPr>
              <a:t>•  Классификатор кандидатов на признаках трека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C1D22"/>
                </a:solidFill>
              </a:rPr>
              <a:t>•  Габарит шире на высоте кузова (±1,45 м)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C1D22"/>
                </a:solidFill>
              </a:rPr>
              <a:t>•  Стрелки и развилки — с данными поезда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C1D22"/>
                </a:solidFill>
              </a:rPr>
              <a:t>•  Больше записей — точнее сети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Спасибо!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Подробный отчёт — ОТЧЁТ.md, запуск — README.md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onlyoffice/9.2.1.1</Application>
  <PresentationFormat>On-screen Show (4:3)</PresentationFormat>
  <Paragraphs>0</Paragraphs>
  <Slides>37</Slides>
  <Notes>37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Аноним</cp:lastModifiedBy>
  <cp:revision>96</cp:revision>
  <dcterms:created xsi:type="dcterms:W3CDTF">2023-05-15T07:36:23Z</dcterms:created>
  <dcterms:modified xsi:type="dcterms:W3CDTF">2026-09-16T13:19:25Z</dcterms:modified>
</cp:coreProperties>
</file>